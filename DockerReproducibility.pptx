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04" r:id="rId1"/>
  </p:sldMasterIdLst>
  <p:notesMasterIdLst>
    <p:notesMasterId r:id="rId19"/>
  </p:notesMasterIdLst>
  <p:sldIdLst>
    <p:sldId id="272" r:id="rId2"/>
    <p:sldId id="257" r:id="rId3"/>
    <p:sldId id="268" r:id="rId4"/>
    <p:sldId id="258" r:id="rId5"/>
    <p:sldId id="279" r:id="rId6"/>
    <p:sldId id="259" r:id="rId7"/>
    <p:sldId id="274" r:id="rId8"/>
    <p:sldId id="273" r:id="rId9"/>
    <p:sldId id="262" r:id="rId10"/>
    <p:sldId id="275" r:id="rId11"/>
    <p:sldId id="280" r:id="rId12"/>
    <p:sldId id="269" r:id="rId13"/>
    <p:sldId id="276" r:id="rId14"/>
    <p:sldId id="277" r:id="rId15"/>
    <p:sldId id="266" r:id="rId16"/>
    <p:sldId id="267" r:id="rId17"/>
    <p:sldId id="27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60" autoAdjust="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215121-5046-43AB-8EA8-1A3E9A277562}" type="datetimeFigureOut">
              <a:rPr lang="en-CA" smtClean="0"/>
              <a:t>2026-02-11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97103A-E131-466A-83D3-C37A680AC1B3}" type="slidenum">
              <a:rPr lang="en-CA" smtClean="0"/>
              <a:t>‹#›</a:t>
            </a:fld>
            <a:endParaRPr lang="en-CA"/>
          </a:p>
        </p:txBody>
      </p:sp>
    </p:spTree>
    <p:extLst>
      <p:ext uri="{BB962C8B-B14F-4D97-AF65-F5344CB8AC3E}">
        <p14:creationId xmlns:p14="http://schemas.microsoft.com/office/powerpoint/2010/main" val="1412525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Flow:</a:t>
            </a:r>
          </a:p>
          <a:p>
            <a:pPr marL="171450" indent="-171450">
              <a:buFontTx/>
              <a:buChar char="-"/>
            </a:pPr>
            <a:r>
              <a:rPr lang="en-CA" dirty="0"/>
              <a:t>Present case study for reproducibility failure</a:t>
            </a:r>
          </a:p>
          <a:p>
            <a:pPr marL="628650" lvl="1" indent="-171450">
              <a:buFontTx/>
              <a:buChar char="-"/>
            </a:pPr>
            <a:r>
              <a:rPr lang="en-CA" dirty="0"/>
              <a:t>Package unavailable due to differing versions of R</a:t>
            </a:r>
          </a:p>
          <a:p>
            <a:pPr marL="628650" lvl="1" indent="-171450">
              <a:buFontTx/>
              <a:buChar char="-"/>
            </a:pPr>
            <a:r>
              <a:rPr lang="en-CA" dirty="0"/>
              <a:t>Package unavailable due to differing versions of packages</a:t>
            </a:r>
          </a:p>
          <a:p>
            <a:pPr marL="628650" lvl="1" indent="-171450">
              <a:buFontTx/>
              <a:buChar char="-"/>
            </a:pPr>
            <a:r>
              <a:rPr lang="en-CA" dirty="0"/>
              <a:t>Same code, different results</a:t>
            </a:r>
          </a:p>
          <a:p>
            <a:pPr marL="171450" lvl="0" indent="-171450">
              <a:buFontTx/>
              <a:buChar char="-"/>
            </a:pPr>
            <a:r>
              <a:rPr lang="en-CA" dirty="0"/>
              <a:t>Different people may also have different versions of these packages downloaded locally on their own devices. Not realistic to ask people to reinstall different versions of software packages every time a new pipeline needs to be run</a:t>
            </a:r>
          </a:p>
          <a:p>
            <a:pPr marL="171450" lvl="0" indent="-171450">
              <a:buFontTx/>
              <a:buChar char="-"/>
            </a:pPr>
            <a:r>
              <a:rPr lang="en-CA" dirty="0"/>
              <a:t>Knowledge gap (for audience): </a:t>
            </a:r>
          </a:p>
          <a:p>
            <a:pPr marL="628650" lvl="1" indent="-171450">
              <a:buFontTx/>
              <a:buChar char="-"/>
            </a:pPr>
            <a:r>
              <a:rPr lang="en-CA" dirty="0"/>
              <a:t>Is there a way to bypass all these issues?</a:t>
            </a:r>
          </a:p>
          <a:p>
            <a:pPr marL="171450" lvl="0" indent="-171450">
              <a:buFontTx/>
              <a:buChar char="-"/>
            </a:pPr>
            <a:r>
              <a:rPr lang="en-CA" dirty="0"/>
              <a:t>Introduce Docker</a:t>
            </a:r>
          </a:p>
          <a:p>
            <a:pPr marL="628650" lvl="1" indent="-171450">
              <a:buFontTx/>
              <a:buChar char="-"/>
            </a:pPr>
            <a:r>
              <a:rPr lang="en-CA" dirty="0"/>
              <a:t>A platform that allows users to run applications or pipelines in an isolated environment</a:t>
            </a:r>
          </a:p>
          <a:p>
            <a:pPr marL="628650" lvl="1" indent="-171450">
              <a:buFontTx/>
              <a:buChar char="-"/>
            </a:pPr>
            <a:r>
              <a:rPr lang="en-CA" dirty="0"/>
              <a:t>Within that environment: users can specify exact packages and versions that are needed to run a particular analysis or pipeline. This bypasses the issue of code not working due to differing package versions</a:t>
            </a:r>
          </a:p>
          <a:p>
            <a:pPr marL="171450" lvl="0" indent="-171450">
              <a:buFontTx/>
              <a:buChar char="-"/>
            </a:pPr>
            <a:r>
              <a:rPr lang="en-CA" dirty="0"/>
              <a:t>Introduce Docker concepts of container and images</a:t>
            </a:r>
          </a:p>
          <a:p>
            <a:pPr marL="628650" lvl="1" indent="-171450">
              <a:buFontTx/>
              <a:buChar char="-"/>
            </a:pPr>
            <a:r>
              <a:rPr lang="en-CA" b="1" dirty="0"/>
              <a:t>Containers</a:t>
            </a:r>
            <a:r>
              <a:rPr lang="en-CA" b="0" dirty="0"/>
              <a:t>: Running instance of  a Docker image</a:t>
            </a:r>
          </a:p>
          <a:p>
            <a:pPr marL="628650" lvl="1" indent="-171450">
              <a:buFontTx/>
              <a:buChar char="-"/>
            </a:pPr>
            <a:r>
              <a:rPr lang="en-CA" b="1" i="0" dirty="0"/>
              <a:t>Images:</a:t>
            </a:r>
            <a:r>
              <a:rPr lang="en-CA" b="0" i="0" dirty="0"/>
              <a:t> </a:t>
            </a:r>
            <a:r>
              <a:rPr lang="en-US" dirty="0"/>
              <a:t>An image is the built, read-only package that contains that complete environment, including the operating system, libraries, and your code.</a:t>
            </a:r>
          </a:p>
          <a:p>
            <a:pPr marL="628650" lvl="1" indent="-171450">
              <a:buFontTx/>
              <a:buChar char="-"/>
            </a:pPr>
            <a:r>
              <a:rPr lang="en-CA" b="1" i="0" dirty="0" err="1"/>
              <a:t>Dockerfiles</a:t>
            </a:r>
            <a:r>
              <a:rPr lang="en-CA" b="1" i="0" dirty="0"/>
              <a:t>:</a:t>
            </a:r>
            <a:r>
              <a:rPr lang="en-CA" b="0" i="0" dirty="0"/>
              <a:t> </a:t>
            </a:r>
            <a:r>
              <a:rPr lang="en-US" dirty="0"/>
              <a:t>A </a:t>
            </a:r>
            <a:r>
              <a:rPr lang="en-US" dirty="0" err="1"/>
              <a:t>Dockerfile</a:t>
            </a:r>
            <a:r>
              <a:rPr lang="en-US" dirty="0"/>
              <a:t> is a text file that specifies the exact software, dependencies, and setup steps needed to build a reproducible computing environment.</a:t>
            </a:r>
          </a:p>
          <a:p>
            <a:pPr marL="171450" lvl="0" indent="-171450">
              <a:buFontTx/>
              <a:buChar char="-"/>
            </a:pPr>
            <a:r>
              <a:rPr lang="en-US" dirty="0"/>
              <a:t>Go over how to:</a:t>
            </a:r>
          </a:p>
          <a:p>
            <a:pPr marL="628650" lvl="1" indent="-171450">
              <a:buFontTx/>
              <a:buChar char="-"/>
            </a:pPr>
            <a:r>
              <a:rPr lang="en-US" dirty="0"/>
              <a:t>Download Docker + </a:t>
            </a:r>
            <a:r>
              <a:rPr lang="en-US" dirty="0" err="1"/>
              <a:t>DockerDesktop</a:t>
            </a:r>
            <a:endParaRPr lang="en-US" dirty="0"/>
          </a:p>
          <a:p>
            <a:pPr marL="628650" lvl="1" indent="-171450">
              <a:buFontTx/>
              <a:buChar char="-"/>
            </a:pPr>
            <a:r>
              <a:rPr lang="en-US" dirty="0"/>
              <a:t>How to build an image from </a:t>
            </a:r>
            <a:r>
              <a:rPr lang="en-US" dirty="0" err="1"/>
              <a:t>dockerfile</a:t>
            </a:r>
            <a:r>
              <a:rPr lang="en-US" dirty="0"/>
              <a:t>, where that </a:t>
            </a:r>
            <a:r>
              <a:rPr lang="en-US" dirty="0" err="1"/>
              <a:t>dockerfile</a:t>
            </a:r>
            <a:r>
              <a:rPr lang="en-US" dirty="0"/>
              <a:t> can be found on the </a:t>
            </a:r>
            <a:r>
              <a:rPr lang="en-US" dirty="0" err="1"/>
              <a:t>DockerDesktop</a:t>
            </a:r>
            <a:r>
              <a:rPr lang="en-US" dirty="0"/>
              <a:t> interface</a:t>
            </a:r>
          </a:p>
          <a:p>
            <a:pPr marL="628650" lvl="1" indent="-171450">
              <a:buFontTx/>
              <a:buChar char="-"/>
            </a:pPr>
            <a:r>
              <a:rPr lang="en-US" dirty="0"/>
              <a:t>Starting a docker container</a:t>
            </a:r>
          </a:p>
          <a:p>
            <a:pPr marL="1085850" lvl="2" indent="-171450">
              <a:buFontTx/>
              <a:buChar char="-"/>
            </a:pPr>
            <a:r>
              <a:rPr lang="en-US" dirty="0"/>
              <a:t>How to mount current directory to docker image</a:t>
            </a:r>
          </a:p>
          <a:p>
            <a:pPr marL="628650" lvl="1" indent="-171450">
              <a:buFontTx/>
              <a:buChar char="-"/>
            </a:pPr>
            <a:r>
              <a:rPr lang="en-US" dirty="0"/>
              <a:t>How to share docker images (with </a:t>
            </a:r>
            <a:r>
              <a:rPr lang="en-US" dirty="0" err="1"/>
              <a:t>dockerhub</a:t>
            </a:r>
            <a:r>
              <a:rPr lang="en-US" dirty="0"/>
              <a:t>)</a:t>
            </a:r>
          </a:p>
          <a:p>
            <a:pPr marL="171450" lvl="0" indent="-171450">
              <a:buFontTx/>
              <a:buChar char="-"/>
            </a:pPr>
            <a:r>
              <a:rPr lang="en-US" dirty="0"/>
              <a:t>Recap</a:t>
            </a:r>
          </a:p>
          <a:p>
            <a:pPr marL="171450" lvl="0" indent="-171450">
              <a:buFontTx/>
              <a:buChar char="-"/>
            </a:pPr>
            <a:endParaRPr lang="en-US" dirty="0"/>
          </a:p>
          <a:p>
            <a:pPr marL="0" lvl="0" indent="0">
              <a:buFontTx/>
              <a:buNone/>
            </a:pPr>
            <a:r>
              <a:rPr lang="en-US" dirty="0"/>
              <a:t>Add logos to title slide</a:t>
            </a:r>
          </a:p>
          <a:p>
            <a:pPr marL="457200" lvl="1" indent="0">
              <a:buFontTx/>
              <a:buNone/>
            </a:pPr>
            <a:endParaRPr lang="en-CA" dirty="0"/>
          </a:p>
          <a:p>
            <a:endParaRPr lang="en-CA" dirty="0"/>
          </a:p>
        </p:txBody>
      </p:sp>
      <p:sp>
        <p:nvSpPr>
          <p:cNvPr id="4" name="Slide Number Placeholder 3"/>
          <p:cNvSpPr>
            <a:spLocks noGrp="1"/>
          </p:cNvSpPr>
          <p:nvPr>
            <p:ph type="sldNum" sz="quarter" idx="5"/>
          </p:nvPr>
        </p:nvSpPr>
        <p:spPr/>
        <p:txBody>
          <a:bodyPr/>
          <a:lstStyle/>
          <a:p>
            <a:fld id="{5197103A-E131-466A-83D3-C37A680AC1B3}" type="slidenum">
              <a:rPr lang="en-CA" smtClean="0"/>
              <a:t>1</a:t>
            </a:fld>
            <a:endParaRPr lang="en-CA"/>
          </a:p>
        </p:txBody>
      </p:sp>
    </p:spTree>
    <p:extLst>
      <p:ext uri="{BB962C8B-B14F-4D97-AF65-F5344CB8AC3E}">
        <p14:creationId xmlns:p14="http://schemas.microsoft.com/office/powerpoint/2010/main" val="2078344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dirty="0"/>
              <a:t>Add link to </a:t>
            </a:r>
            <a:r>
              <a:rPr lang="en-CA" sz="1200" dirty="0" err="1"/>
              <a:t>github</a:t>
            </a:r>
            <a:r>
              <a:rPr lang="en-CA" sz="1200" dirty="0"/>
              <a:t> repo with slides here</a:t>
            </a:r>
          </a:p>
          <a:p>
            <a:endParaRPr lang="en-CA" dirty="0"/>
          </a:p>
        </p:txBody>
      </p:sp>
      <p:sp>
        <p:nvSpPr>
          <p:cNvPr id="4" name="Slide Number Placeholder 3"/>
          <p:cNvSpPr>
            <a:spLocks noGrp="1"/>
          </p:cNvSpPr>
          <p:nvPr>
            <p:ph type="sldNum" sz="quarter" idx="5"/>
          </p:nvPr>
        </p:nvSpPr>
        <p:spPr/>
        <p:txBody>
          <a:bodyPr/>
          <a:lstStyle/>
          <a:p>
            <a:fld id="{5197103A-E131-466A-83D3-C37A680AC1B3}" type="slidenum">
              <a:rPr lang="en-CA" smtClean="0"/>
              <a:t>2</a:t>
            </a:fld>
            <a:endParaRPr lang="en-CA"/>
          </a:p>
        </p:txBody>
      </p:sp>
    </p:spTree>
    <p:extLst>
      <p:ext uri="{BB962C8B-B14F-4D97-AF65-F5344CB8AC3E}">
        <p14:creationId xmlns:p14="http://schemas.microsoft.com/office/powerpoint/2010/main" val="37320046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CA" dirty="0"/>
              <a:t>From a computational perspective: just because you have access to someone’s code, doesn’t necessarily mean you’ll be able to recreate their results</a:t>
            </a:r>
          </a:p>
          <a:p>
            <a:pPr marL="171450" indent="-171450">
              <a:buFontTx/>
              <a:buChar char="-"/>
            </a:pPr>
            <a:endParaRPr lang="en-CA" dirty="0"/>
          </a:p>
        </p:txBody>
      </p:sp>
      <p:sp>
        <p:nvSpPr>
          <p:cNvPr id="4" name="Slide Number Placeholder 3"/>
          <p:cNvSpPr>
            <a:spLocks noGrp="1"/>
          </p:cNvSpPr>
          <p:nvPr>
            <p:ph type="sldNum" sz="quarter" idx="5"/>
          </p:nvPr>
        </p:nvSpPr>
        <p:spPr/>
        <p:txBody>
          <a:bodyPr/>
          <a:lstStyle/>
          <a:p>
            <a:fld id="{5197103A-E131-466A-83D3-C37A680AC1B3}" type="slidenum">
              <a:rPr lang="en-CA" smtClean="0"/>
              <a:t>3</a:t>
            </a:fld>
            <a:endParaRPr lang="en-CA"/>
          </a:p>
        </p:txBody>
      </p:sp>
    </p:spTree>
    <p:extLst>
      <p:ext uri="{BB962C8B-B14F-4D97-AF65-F5344CB8AC3E}">
        <p14:creationId xmlns:p14="http://schemas.microsoft.com/office/powerpoint/2010/main" val="3203241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CA" dirty="0"/>
              <a:t>As a toy example: I have here a DEG analysis pipeline</a:t>
            </a:r>
          </a:p>
          <a:p>
            <a:pPr marL="628650" lvl="1" indent="-171450">
              <a:buFontTx/>
              <a:buChar char="-"/>
            </a:pPr>
            <a:r>
              <a:rPr lang="en-CA" dirty="0"/>
              <a:t>If I run all the code, we can see that it works, and produces these results</a:t>
            </a:r>
          </a:p>
          <a:p>
            <a:pPr marL="628650" lvl="1" indent="-171450">
              <a:buFontTx/>
              <a:buChar char="-"/>
            </a:pPr>
            <a:r>
              <a:rPr lang="en-CA" dirty="0"/>
              <a:t>But software is never stagnant – updates to packages happen all the time. Even R updates every few months. Although these changes might be small, they may sometimes alter the results of the analysis at hand, or even cause the script to not work at all</a:t>
            </a:r>
          </a:p>
          <a:p>
            <a:pPr marL="628650" lvl="1" indent="-171450">
              <a:buFontTx/>
              <a:buChar char="-"/>
            </a:pPr>
            <a:r>
              <a:rPr lang="en-CA" dirty="0"/>
              <a:t>In this other tab, I have the same script, but under the hood I’m using packages with different versions. When I try to run the script, I get these errors:</a:t>
            </a:r>
          </a:p>
          <a:p>
            <a:pPr marL="457200" lvl="1" indent="0">
              <a:buFontTx/>
              <a:buNone/>
            </a:pPr>
            <a:endParaRPr lang="en-CA" dirty="0"/>
          </a:p>
          <a:p>
            <a:pPr marL="171450" lvl="0" indent="-171450">
              <a:buFontTx/>
              <a:buChar char="-"/>
            </a:pPr>
            <a:r>
              <a:rPr lang="en-CA" dirty="0"/>
              <a:t>So: is there a way to mitigate issues like this? Yes: for a working pipeline, if we can somehow save a snapshot of all the software dependencies and versions which allow the pipeline to run successfully, then we know that if we run this code with these set of dependencies, it will always work</a:t>
            </a:r>
          </a:p>
        </p:txBody>
      </p:sp>
      <p:sp>
        <p:nvSpPr>
          <p:cNvPr id="4" name="Slide Number Placeholder 3"/>
          <p:cNvSpPr>
            <a:spLocks noGrp="1"/>
          </p:cNvSpPr>
          <p:nvPr>
            <p:ph type="sldNum" sz="quarter" idx="5"/>
          </p:nvPr>
        </p:nvSpPr>
        <p:spPr/>
        <p:txBody>
          <a:bodyPr/>
          <a:lstStyle/>
          <a:p>
            <a:fld id="{5197103A-E131-466A-83D3-C37A680AC1B3}" type="slidenum">
              <a:rPr lang="en-CA" smtClean="0"/>
              <a:t>4</a:t>
            </a:fld>
            <a:endParaRPr lang="en-CA"/>
          </a:p>
        </p:txBody>
      </p:sp>
    </p:spTree>
    <p:extLst>
      <p:ext uri="{BB962C8B-B14F-4D97-AF65-F5344CB8AC3E}">
        <p14:creationId xmlns:p14="http://schemas.microsoft.com/office/powerpoint/2010/main" val="766795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DC58B-B3AD-78CA-FA63-90486EBEB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33C4CD-E93B-8D98-B142-1B01568768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2AA65-04D2-D9BC-05A9-46FD1A07E0F5}"/>
              </a:ext>
            </a:extLst>
          </p:cNvPr>
          <p:cNvSpPr>
            <a:spLocks noGrp="1"/>
          </p:cNvSpPr>
          <p:nvPr>
            <p:ph type="body" idx="1"/>
          </p:nvPr>
        </p:nvSpPr>
        <p:spPr/>
        <p:txBody>
          <a:bodyPr/>
          <a:lstStyle/>
          <a:p>
            <a:pPr marL="171450" indent="-171450">
              <a:buFontTx/>
              <a:buChar char="-"/>
            </a:pPr>
            <a:r>
              <a:rPr lang="en-CA" dirty="0"/>
              <a:t>As a toy example: I have here a DEG analysis pipeline</a:t>
            </a:r>
          </a:p>
          <a:p>
            <a:pPr marL="628650" lvl="1" indent="-171450">
              <a:buFontTx/>
              <a:buChar char="-"/>
            </a:pPr>
            <a:r>
              <a:rPr lang="en-CA" dirty="0"/>
              <a:t>If I run all the code, we can see that it works, and produces these results</a:t>
            </a:r>
          </a:p>
          <a:p>
            <a:pPr marL="628650" lvl="1" indent="-171450">
              <a:buFontTx/>
              <a:buChar char="-"/>
            </a:pPr>
            <a:r>
              <a:rPr lang="en-CA" dirty="0"/>
              <a:t>But software is never stagnant – updates to packages happen all the time. Even R updates every few months. Although these changes might be small, they may sometimes alter the results of the analysis at hand, or even cause the script to not work at all</a:t>
            </a:r>
          </a:p>
          <a:p>
            <a:pPr marL="628650" lvl="1" indent="-171450">
              <a:buFontTx/>
              <a:buChar char="-"/>
            </a:pPr>
            <a:r>
              <a:rPr lang="en-CA" dirty="0"/>
              <a:t>In this other tab, I have the same script, but under the hood I’m using packages with different versions. When I try to run the script, I get these errors:</a:t>
            </a:r>
          </a:p>
          <a:p>
            <a:pPr marL="457200" lvl="1" indent="0">
              <a:buFontTx/>
              <a:buNone/>
            </a:pPr>
            <a:endParaRPr lang="en-CA" dirty="0"/>
          </a:p>
          <a:p>
            <a:pPr marL="171450" lvl="0" indent="-171450">
              <a:buFontTx/>
              <a:buChar char="-"/>
            </a:pPr>
            <a:r>
              <a:rPr lang="en-CA" dirty="0"/>
              <a:t>So: is there a way to mitigate issues like this? Yes: for a working pipeline, if we can somehow save a snapshot of all the software dependencies and versions which allow the pipeline to run successfully, then we know that if we run this code with these set of dependencies, it will always work</a:t>
            </a:r>
          </a:p>
        </p:txBody>
      </p:sp>
      <p:sp>
        <p:nvSpPr>
          <p:cNvPr id="4" name="Slide Number Placeholder 3">
            <a:extLst>
              <a:ext uri="{FF2B5EF4-FFF2-40B4-BE49-F238E27FC236}">
                <a16:creationId xmlns:a16="http://schemas.microsoft.com/office/drawing/2014/main" id="{E13834E1-0F26-1B51-31DA-73FC97111928}"/>
              </a:ext>
            </a:extLst>
          </p:cNvPr>
          <p:cNvSpPr>
            <a:spLocks noGrp="1"/>
          </p:cNvSpPr>
          <p:nvPr>
            <p:ph type="sldNum" sz="quarter" idx="5"/>
          </p:nvPr>
        </p:nvSpPr>
        <p:spPr/>
        <p:txBody>
          <a:bodyPr/>
          <a:lstStyle/>
          <a:p>
            <a:fld id="{5197103A-E131-466A-83D3-C37A680AC1B3}" type="slidenum">
              <a:rPr lang="en-CA" smtClean="0"/>
              <a:t>5</a:t>
            </a:fld>
            <a:endParaRPr lang="en-CA"/>
          </a:p>
        </p:txBody>
      </p:sp>
    </p:spTree>
    <p:extLst>
      <p:ext uri="{BB962C8B-B14F-4D97-AF65-F5344CB8AC3E}">
        <p14:creationId xmlns:p14="http://schemas.microsoft.com/office/powerpoint/2010/main" val="1617524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This is where Docker comes in, and it allows us to do exactly that. </a:t>
            </a:r>
          </a:p>
        </p:txBody>
      </p:sp>
      <p:sp>
        <p:nvSpPr>
          <p:cNvPr id="4" name="Slide Number Placeholder 3"/>
          <p:cNvSpPr>
            <a:spLocks noGrp="1"/>
          </p:cNvSpPr>
          <p:nvPr>
            <p:ph type="sldNum" sz="quarter" idx="5"/>
          </p:nvPr>
        </p:nvSpPr>
        <p:spPr/>
        <p:txBody>
          <a:bodyPr/>
          <a:lstStyle/>
          <a:p>
            <a:fld id="{5197103A-E131-466A-83D3-C37A680AC1B3}" type="slidenum">
              <a:rPr lang="en-CA" smtClean="0"/>
              <a:t>6</a:t>
            </a:fld>
            <a:endParaRPr lang="en-CA"/>
          </a:p>
        </p:txBody>
      </p:sp>
    </p:spTree>
    <p:extLst>
      <p:ext uri="{BB962C8B-B14F-4D97-AF65-F5344CB8AC3E}">
        <p14:creationId xmlns:p14="http://schemas.microsoft.com/office/powerpoint/2010/main" val="510020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956CA-A7DC-BA74-414B-8BF483B10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E39CA-2EEF-4064-B5AC-428A986D1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A1635C-9736-BB8B-86E2-604059E736C3}"/>
              </a:ext>
            </a:extLst>
          </p:cNvPr>
          <p:cNvSpPr>
            <a:spLocks noGrp="1"/>
          </p:cNvSpPr>
          <p:nvPr>
            <p:ph type="body" idx="1"/>
          </p:nvPr>
        </p:nvSpPr>
        <p:spPr/>
        <p:txBody>
          <a:bodyPr/>
          <a:lstStyle/>
          <a:p>
            <a:r>
              <a:rPr lang="en-CA" dirty="0"/>
              <a:t>- This is where Docker comes in, and it allows us to do exactly that. </a:t>
            </a:r>
          </a:p>
        </p:txBody>
      </p:sp>
      <p:sp>
        <p:nvSpPr>
          <p:cNvPr id="4" name="Slide Number Placeholder 3">
            <a:extLst>
              <a:ext uri="{FF2B5EF4-FFF2-40B4-BE49-F238E27FC236}">
                <a16:creationId xmlns:a16="http://schemas.microsoft.com/office/drawing/2014/main" id="{E92A7E2F-5205-2971-9328-828F03522858}"/>
              </a:ext>
            </a:extLst>
          </p:cNvPr>
          <p:cNvSpPr>
            <a:spLocks noGrp="1"/>
          </p:cNvSpPr>
          <p:nvPr>
            <p:ph type="sldNum" sz="quarter" idx="5"/>
          </p:nvPr>
        </p:nvSpPr>
        <p:spPr/>
        <p:txBody>
          <a:bodyPr/>
          <a:lstStyle/>
          <a:p>
            <a:fld id="{5197103A-E131-466A-83D3-C37A680AC1B3}" type="slidenum">
              <a:rPr lang="en-CA" smtClean="0"/>
              <a:t>7</a:t>
            </a:fld>
            <a:endParaRPr lang="en-CA"/>
          </a:p>
        </p:txBody>
      </p:sp>
    </p:spTree>
    <p:extLst>
      <p:ext uri="{BB962C8B-B14F-4D97-AF65-F5344CB8AC3E}">
        <p14:creationId xmlns:p14="http://schemas.microsoft.com/office/powerpoint/2010/main" val="11131192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buFontTx/>
              <a:buNone/>
            </a:pPr>
            <a:r>
              <a:rPr lang="en-CA" b="1" dirty="0"/>
              <a:t>Containers</a:t>
            </a:r>
            <a:r>
              <a:rPr lang="en-CA" b="0" dirty="0"/>
              <a:t>: Running instance of a Docker image</a:t>
            </a:r>
          </a:p>
          <a:p>
            <a:pPr marL="457200" lvl="1" indent="0">
              <a:buFontTx/>
              <a:buNone/>
            </a:pPr>
            <a:r>
              <a:rPr lang="en-CA" b="1" i="0" dirty="0"/>
              <a:t>Images:</a:t>
            </a:r>
            <a:r>
              <a:rPr lang="en-CA" b="0" i="0" dirty="0"/>
              <a:t> </a:t>
            </a:r>
            <a:r>
              <a:rPr lang="en-US" dirty="0"/>
              <a:t>An image is the built, read-only package that contains that complete environment, including the operating system, libraries, and your code.</a:t>
            </a:r>
          </a:p>
          <a:p>
            <a:pPr marL="457200" lvl="1" indent="0">
              <a:buFontTx/>
              <a:buNone/>
            </a:pPr>
            <a:r>
              <a:rPr lang="en-CA" b="1" i="0" dirty="0" err="1"/>
              <a:t>Dockerfiles</a:t>
            </a:r>
            <a:r>
              <a:rPr lang="en-CA" b="1" i="0" dirty="0"/>
              <a:t>:</a:t>
            </a:r>
            <a:r>
              <a:rPr lang="en-CA" b="0" i="0" dirty="0"/>
              <a:t> </a:t>
            </a:r>
            <a:r>
              <a:rPr lang="en-US" dirty="0"/>
              <a:t>A </a:t>
            </a:r>
            <a:r>
              <a:rPr lang="en-US" dirty="0" err="1"/>
              <a:t>Dockerfile</a:t>
            </a:r>
            <a:r>
              <a:rPr lang="en-US" dirty="0"/>
              <a:t> is a text file that specifies the exact software, dependencies, and setup steps needed to build a reproducible computing environment.</a:t>
            </a:r>
          </a:p>
          <a:p>
            <a:pPr marL="457200" lvl="1" indent="0">
              <a:buFontTx/>
              <a:buNone/>
            </a:pPr>
            <a:endParaRPr lang="en-US" dirty="0"/>
          </a:p>
          <a:p>
            <a:pPr marL="457200" lvl="1" indent="0">
              <a:buFontTx/>
              <a:buNone/>
            </a:pPr>
            <a:r>
              <a:rPr lang="en-US" dirty="0"/>
              <a:t>Highlight keywords mentioned; analysis script should be only with runtime</a:t>
            </a:r>
          </a:p>
          <a:p>
            <a:endParaRPr lang="en-CA" dirty="0"/>
          </a:p>
          <a:p>
            <a:endParaRPr lang="en-CA" dirty="0"/>
          </a:p>
        </p:txBody>
      </p:sp>
      <p:sp>
        <p:nvSpPr>
          <p:cNvPr id="4" name="Slide Number Placeholder 3"/>
          <p:cNvSpPr>
            <a:spLocks noGrp="1"/>
          </p:cNvSpPr>
          <p:nvPr>
            <p:ph type="sldNum" sz="quarter" idx="5"/>
          </p:nvPr>
        </p:nvSpPr>
        <p:spPr/>
        <p:txBody>
          <a:bodyPr/>
          <a:lstStyle/>
          <a:p>
            <a:fld id="{5197103A-E131-466A-83D3-C37A680AC1B3}" type="slidenum">
              <a:rPr lang="en-CA" smtClean="0"/>
              <a:t>8</a:t>
            </a:fld>
            <a:endParaRPr lang="en-CA"/>
          </a:p>
        </p:txBody>
      </p:sp>
    </p:spTree>
    <p:extLst>
      <p:ext uri="{BB962C8B-B14F-4D97-AF65-F5344CB8AC3E}">
        <p14:creationId xmlns:p14="http://schemas.microsoft.com/office/powerpoint/2010/main" val="39821758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over </a:t>
            </a:r>
            <a:r>
              <a:rPr lang="en-US" dirty="0" err="1"/>
              <a:t>irl</a:t>
            </a:r>
            <a:r>
              <a:rPr lang="en-US" dirty="0"/>
              <a:t> how to do this</a:t>
            </a:r>
          </a:p>
          <a:p>
            <a:r>
              <a:rPr lang="en-US" dirty="0"/>
              <a:t>- Plan out what to put in the </a:t>
            </a:r>
            <a:r>
              <a:rPr lang="en-US" dirty="0" err="1"/>
              <a:t>dockerfiles</a:t>
            </a:r>
            <a:endParaRPr lang="en-CA" dirty="0"/>
          </a:p>
        </p:txBody>
      </p:sp>
      <p:sp>
        <p:nvSpPr>
          <p:cNvPr id="4" name="Slide Number Placeholder 3"/>
          <p:cNvSpPr>
            <a:spLocks noGrp="1"/>
          </p:cNvSpPr>
          <p:nvPr>
            <p:ph type="sldNum" sz="quarter" idx="5"/>
          </p:nvPr>
        </p:nvSpPr>
        <p:spPr/>
        <p:txBody>
          <a:bodyPr/>
          <a:lstStyle/>
          <a:p>
            <a:fld id="{5197103A-E131-466A-83D3-C37A680AC1B3}" type="slidenum">
              <a:rPr lang="en-CA" smtClean="0"/>
              <a:t>9</a:t>
            </a:fld>
            <a:endParaRPr lang="en-CA"/>
          </a:p>
        </p:txBody>
      </p:sp>
    </p:spTree>
    <p:extLst>
      <p:ext uri="{BB962C8B-B14F-4D97-AF65-F5344CB8AC3E}">
        <p14:creationId xmlns:p14="http://schemas.microsoft.com/office/powerpoint/2010/main" val="2961259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5197103A-E131-466A-83D3-C37A680AC1B3}" type="slidenum">
              <a:rPr lang="en-CA" smtClean="0"/>
              <a:t>12</a:t>
            </a:fld>
            <a:endParaRPr lang="en-CA"/>
          </a:p>
        </p:txBody>
      </p:sp>
    </p:spTree>
    <p:extLst>
      <p:ext uri="{BB962C8B-B14F-4D97-AF65-F5344CB8AC3E}">
        <p14:creationId xmlns:p14="http://schemas.microsoft.com/office/powerpoint/2010/main" val="26975512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37C7F41-4DF2-4C13-A263-F7EFCB02805C}" type="datetime1">
              <a:rPr lang="en-CA" smtClean="0"/>
              <a:t>2026-02-11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3DFCFE-842E-40F2-A75B-98C430601D50}" type="slidenum">
              <a:rPr lang="en-CA" smtClean="0"/>
              <a:t>‹#›</a:t>
            </a:fld>
            <a:endParaRPr lang="en-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0747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A62F55-6C37-40E4-B8FD-EBAF1843B23F}" type="datetime1">
              <a:rPr lang="en-CA" smtClean="0"/>
              <a:t>2026-02-11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2983412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2D3675-2710-433C-9F4B-0C40D98CAFA7}" type="datetime1">
              <a:rPr lang="en-CA" smtClean="0"/>
              <a:t>2026-02-11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3DFCFE-842E-40F2-A75B-98C430601D50}" type="slidenum">
              <a:rPr lang="en-CA" smtClean="0"/>
              <a:t>‹#›</a:t>
            </a:fld>
            <a:endParaRPr lang="en-CA"/>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3525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9AB373-D914-4231-A09E-FEA63DEC5DB0}" type="datetime1">
              <a:rPr lang="en-CA" smtClean="0"/>
              <a:t>2026-02-11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2795014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53C1DA2-FE08-41FE-B275-51F91D7E85B4}" type="datetime1">
              <a:rPr lang="en-CA" smtClean="0"/>
              <a:t>2026-02-11</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296064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9052711-D3A2-4C27-BE53-EB1BD78206F9}" type="datetime1">
              <a:rPr lang="en-CA" smtClean="0"/>
              <a:t>2026-02-11</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392970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7" name="Date Placeholder 6"/>
          <p:cNvSpPr>
            <a:spLocks noGrp="1"/>
          </p:cNvSpPr>
          <p:nvPr>
            <p:ph type="dt" sz="half" idx="10"/>
          </p:nvPr>
        </p:nvSpPr>
        <p:spPr/>
        <p:txBody>
          <a:bodyPr/>
          <a:lstStyle/>
          <a:p>
            <a:fld id="{6686315F-0055-46A4-BEB3-F1EEF9F4AE2C}" type="datetime1">
              <a:rPr lang="en-CA" smtClean="0"/>
              <a:t>2026-02-11</a:t>
            </a:fld>
            <a:endParaRPr lang="en-CA"/>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CA"/>
          </a:p>
        </p:txBody>
      </p:sp>
      <p:sp>
        <p:nvSpPr>
          <p:cNvPr id="9" name="Slide Number Placeholder 8"/>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18306151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C36E748-7F80-465D-9602-1022BBB64038}" type="datetime1">
              <a:rPr lang="en-CA" smtClean="0"/>
              <a:t>2026-02-11</a:t>
            </a:fld>
            <a:endParaRPr lang="en-CA"/>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CA"/>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B3DFCFE-842E-40F2-A75B-98C430601D50}" type="slidenum">
              <a:rPr lang="en-CA" smtClean="0"/>
              <a:t>‹#›</a:t>
            </a:fld>
            <a:endParaRPr lang="en-CA"/>
          </a:p>
        </p:txBody>
      </p:sp>
    </p:spTree>
    <p:extLst>
      <p:ext uri="{BB962C8B-B14F-4D97-AF65-F5344CB8AC3E}">
        <p14:creationId xmlns:p14="http://schemas.microsoft.com/office/powerpoint/2010/main" val="2428637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D9D606-30C6-432B-892D-CF0242C2095C}" type="datetime1">
              <a:rPr lang="en-CA" smtClean="0"/>
              <a:t>2026-02-11</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23295446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3512542-28DB-415C-B2FC-DDDBE33EF89B}" type="datetime1">
              <a:rPr lang="en-CA" smtClean="0"/>
              <a:t>2026-02-11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18060630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841167D-EB4C-41EC-9214-B15E11A01503}" type="datetime1">
              <a:rPr lang="en-CA" smtClean="0"/>
              <a:t>2026-02-11</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7B3DFCFE-842E-40F2-A75B-98C430601D50}" type="slidenum">
              <a:rPr lang="en-CA" smtClean="0"/>
              <a:t>‹#›</a:t>
            </a:fld>
            <a:endParaRPr lang="en-CA"/>
          </a:p>
        </p:txBody>
      </p:sp>
    </p:spTree>
    <p:extLst>
      <p:ext uri="{BB962C8B-B14F-4D97-AF65-F5344CB8AC3E}">
        <p14:creationId xmlns:p14="http://schemas.microsoft.com/office/powerpoint/2010/main" val="243069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BD67A85-CDAD-44D1-BD4E-108A09642B2E}" type="datetime1">
              <a:rPr lang="en-CA" smtClean="0"/>
              <a:t>2026-02-11</a:t>
            </a:fld>
            <a:endParaRPr lang="en-CA"/>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CA"/>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B3DFCFE-842E-40F2-A75B-98C430601D50}" type="slidenum">
              <a:rPr lang="en-CA" smtClean="0"/>
              <a:t>‹#›</a:t>
            </a:fld>
            <a:endParaRPr lang="en-CA"/>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562248"/>
      </p:ext>
    </p:extLst>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UBCbioinformatics/DockerReproducibilityWorksho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ugeek.github.io/blog/post/2021-01-02-crear-una-imagen-docker-desde-un-repositorio-de-github.htm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ocs.docker.com/get-started/"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hyperlink" Target="https://ugeek.github.io/blog/post/2021-01-02-crear-una-imagen-docker-desde-un-repositorio-de-github.html" TargetMode="Externa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hub.docker.com/" TargetMode="Externa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docs.docker.com/get-started/introducti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EC36D30-7B73-5A19-DEA5-70636B690F3E}"/>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b="67174"/>
          <a:stretch>
            <a:fillRect/>
          </a:stretch>
        </p:blipFill>
        <p:spPr>
          <a:xfrm>
            <a:off x="0" y="42333"/>
            <a:ext cx="12192000" cy="2029063"/>
          </a:xfrm>
          <a:prstGeom prst="rect">
            <a:avLst/>
          </a:prstGeom>
        </p:spPr>
      </p:pic>
      <p:sp>
        <p:nvSpPr>
          <p:cNvPr id="2" name="Title 1">
            <a:extLst>
              <a:ext uri="{FF2B5EF4-FFF2-40B4-BE49-F238E27FC236}">
                <a16:creationId xmlns:a16="http://schemas.microsoft.com/office/drawing/2014/main" id="{0A04B961-8D33-2C4C-C4F7-FE797208956B}"/>
              </a:ext>
            </a:extLst>
          </p:cNvPr>
          <p:cNvSpPr>
            <a:spLocks noGrp="1"/>
          </p:cNvSpPr>
          <p:nvPr>
            <p:ph type="ctrTitle"/>
          </p:nvPr>
        </p:nvSpPr>
        <p:spPr>
          <a:xfrm>
            <a:off x="1626637" y="1794167"/>
            <a:ext cx="9144000" cy="2387600"/>
          </a:xfrm>
        </p:spPr>
        <p:txBody>
          <a:bodyPr>
            <a:normAutofit/>
          </a:bodyPr>
          <a:lstStyle/>
          <a:p>
            <a:r>
              <a:rPr lang="en-US" sz="4800" dirty="0"/>
              <a:t>Reproducible and Portable Data Analysis Environments with Docker</a:t>
            </a:r>
            <a:endParaRPr lang="en-CA" sz="4800" dirty="0"/>
          </a:p>
        </p:txBody>
      </p:sp>
      <p:sp>
        <p:nvSpPr>
          <p:cNvPr id="3" name="Subtitle 2">
            <a:extLst>
              <a:ext uri="{FF2B5EF4-FFF2-40B4-BE49-F238E27FC236}">
                <a16:creationId xmlns:a16="http://schemas.microsoft.com/office/drawing/2014/main" id="{911B1683-9A6C-8FA2-399E-767BB4C01158}"/>
              </a:ext>
            </a:extLst>
          </p:cNvPr>
          <p:cNvSpPr>
            <a:spLocks noGrp="1"/>
          </p:cNvSpPr>
          <p:nvPr>
            <p:ph type="subTitle" idx="1"/>
          </p:nvPr>
        </p:nvSpPr>
        <p:spPr>
          <a:xfrm>
            <a:off x="1524000" y="4402753"/>
            <a:ext cx="9144000" cy="1655762"/>
          </a:xfrm>
        </p:spPr>
        <p:txBody>
          <a:bodyPr/>
          <a:lstStyle/>
          <a:p>
            <a:r>
              <a:rPr lang="en-US" dirty="0"/>
              <a:t>UBC </a:t>
            </a:r>
            <a:r>
              <a:rPr lang="en-US" dirty="0" err="1"/>
              <a:t>Biof</a:t>
            </a:r>
            <a:r>
              <a:rPr lang="en-US" dirty="0"/>
              <a:t>. &amp; Stats. Workshops</a:t>
            </a:r>
          </a:p>
          <a:p>
            <a:r>
              <a:rPr lang="en-US" dirty="0"/>
              <a:t>Feb 11, 2026</a:t>
            </a:r>
            <a:endParaRPr lang="en-CA" dirty="0"/>
          </a:p>
        </p:txBody>
      </p:sp>
    </p:spTree>
    <p:extLst>
      <p:ext uri="{BB962C8B-B14F-4D97-AF65-F5344CB8AC3E}">
        <p14:creationId xmlns:p14="http://schemas.microsoft.com/office/powerpoint/2010/main" val="404289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D620E-E015-9B9B-5C09-DEE8F58BD0FA}"/>
              </a:ext>
            </a:extLst>
          </p:cNvPr>
          <p:cNvSpPr>
            <a:spLocks noGrp="1"/>
          </p:cNvSpPr>
          <p:nvPr>
            <p:ph type="title"/>
          </p:nvPr>
        </p:nvSpPr>
        <p:spPr>
          <a:xfrm>
            <a:off x="1371599" y="554596"/>
            <a:ext cx="9895951" cy="1033669"/>
          </a:xfrm>
        </p:spPr>
        <p:txBody>
          <a:bodyPr>
            <a:normAutofit/>
          </a:bodyPr>
          <a:lstStyle/>
          <a:p>
            <a:r>
              <a:rPr lang="en-CA" sz="6000" dirty="0">
                <a:solidFill>
                  <a:schemeClr val="tx1"/>
                </a:solidFill>
              </a:rPr>
              <a:t>Resources for today:</a:t>
            </a:r>
          </a:p>
        </p:txBody>
      </p:sp>
      <p:sp>
        <p:nvSpPr>
          <p:cNvPr id="3" name="Content Placeholder 2">
            <a:extLst>
              <a:ext uri="{FF2B5EF4-FFF2-40B4-BE49-F238E27FC236}">
                <a16:creationId xmlns:a16="http://schemas.microsoft.com/office/drawing/2014/main" id="{B178A090-4C20-05DB-F352-43C3C051A817}"/>
              </a:ext>
            </a:extLst>
          </p:cNvPr>
          <p:cNvSpPr>
            <a:spLocks noGrp="1"/>
          </p:cNvSpPr>
          <p:nvPr>
            <p:ph idx="1"/>
          </p:nvPr>
        </p:nvSpPr>
        <p:spPr>
          <a:xfrm>
            <a:off x="1371599" y="2318197"/>
            <a:ext cx="9724031" cy="829449"/>
          </a:xfrm>
        </p:spPr>
        <p:txBody>
          <a:bodyPr anchor="ctr">
            <a:normAutofit/>
          </a:bodyPr>
          <a:lstStyle/>
          <a:p>
            <a:pPr>
              <a:buFont typeface="Wingdings" panose="05000000000000000000" pitchFamily="2" charset="2"/>
              <a:buChar char="§"/>
            </a:pPr>
            <a:r>
              <a:rPr lang="en-US" sz="2000" dirty="0"/>
              <a:t> Slides + </a:t>
            </a:r>
            <a:r>
              <a:rPr lang="en-US" dirty="0"/>
              <a:t>Code found on: </a:t>
            </a:r>
            <a:r>
              <a:rPr lang="en-US" dirty="0">
                <a:hlinkClick r:id="rId3"/>
              </a:rPr>
              <a:t>https://github.com/UBCbioinformatics/DockerReproducibilityWorkshop</a:t>
            </a:r>
            <a:endParaRPr lang="en-CA" sz="2000" dirty="0"/>
          </a:p>
        </p:txBody>
      </p:sp>
    </p:spTree>
    <p:extLst>
      <p:ext uri="{BB962C8B-B14F-4D97-AF65-F5344CB8AC3E}">
        <p14:creationId xmlns:p14="http://schemas.microsoft.com/office/powerpoint/2010/main" val="3836207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71599" y="588152"/>
            <a:ext cx="9895951" cy="1033669"/>
          </a:xfrm>
        </p:spPr>
        <p:txBody>
          <a:bodyPr>
            <a:normAutofit/>
          </a:bodyPr>
          <a:lstStyle/>
          <a:p>
            <a:r>
              <a:rPr lang="en-CA" sz="6000" dirty="0">
                <a:solidFill>
                  <a:schemeClr val="tx1"/>
                </a:solidFill>
              </a:rPr>
              <a:t>What is Reproducibility? </a:t>
            </a:r>
          </a:p>
        </p:txBody>
      </p:sp>
      <p:sp>
        <p:nvSpPr>
          <p:cNvPr id="3" name="Content Placeholder 2"/>
          <p:cNvSpPr>
            <a:spLocks noGrp="1"/>
          </p:cNvSpPr>
          <p:nvPr>
            <p:ph idx="1"/>
          </p:nvPr>
        </p:nvSpPr>
        <p:spPr>
          <a:xfrm>
            <a:off x="1371599" y="1810138"/>
            <a:ext cx="9724031" cy="2308856"/>
          </a:xfrm>
        </p:spPr>
        <p:txBody>
          <a:bodyPr anchor="ctr">
            <a:normAutofit/>
          </a:bodyPr>
          <a:lstStyle/>
          <a:p>
            <a:pPr>
              <a:buFont typeface="Wingdings" panose="05000000000000000000" pitchFamily="2" charset="2"/>
              <a:buChar char="§"/>
            </a:pPr>
            <a:r>
              <a:rPr lang="en-US" sz="2000" dirty="0">
                <a:solidFill>
                  <a:schemeClr val="tx1"/>
                </a:solidFill>
              </a:rPr>
              <a:t> To be able to obtain the same results by following the same methodology used in the past</a:t>
            </a:r>
          </a:p>
          <a:p>
            <a:pPr>
              <a:buFont typeface="Wingdings" panose="05000000000000000000" pitchFamily="2" charset="2"/>
              <a:buChar char="§"/>
            </a:pPr>
            <a:r>
              <a:rPr lang="en-US" sz="2000" dirty="0">
                <a:solidFill>
                  <a:schemeClr val="tx1"/>
                </a:solidFill>
              </a:rPr>
              <a:t> Necessary for scientific integrity </a:t>
            </a:r>
          </a:p>
          <a:p>
            <a:pPr>
              <a:buFont typeface="Wingdings" panose="05000000000000000000" pitchFamily="2" charset="2"/>
              <a:buChar char="§"/>
            </a:pPr>
            <a:r>
              <a:rPr lang="en-US" sz="2000" dirty="0">
                <a:solidFill>
                  <a:schemeClr val="tx1"/>
                </a:solidFill>
              </a:rPr>
              <a:t> For computational development: code not guaranteed to run exactly as expected</a:t>
            </a:r>
          </a:p>
          <a:p>
            <a:pPr lvl="1">
              <a:buFont typeface="Wingdings" panose="05000000000000000000" pitchFamily="2" charset="2"/>
              <a:buChar char="§"/>
            </a:pPr>
            <a:r>
              <a:rPr lang="en-US" dirty="0">
                <a:solidFill>
                  <a:schemeClr val="tx1"/>
                </a:solidFill>
              </a:rPr>
              <a:t>Software dependencies can change over time</a:t>
            </a:r>
          </a:p>
        </p:txBody>
      </p:sp>
      <p:sp>
        <p:nvSpPr>
          <p:cNvPr id="4" name="Slide Number Placeholder 3">
            <a:extLst>
              <a:ext uri="{FF2B5EF4-FFF2-40B4-BE49-F238E27FC236}">
                <a16:creationId xmlns:a16="http://schemas.microsoft.com/office/drawing/2014/main" id="{D4790849-C40D-89CA-C7AD-C08E82DE786F}"/>
              </a:ext>
            </a:extLst>
          </p:cNvPr>
          <p:cNvSpPr>
            <a:spLocks noGrp="1"/>
          </p:cNvSpPr>
          <p:nvPr>
            <p:ph type="sldNum" sz="quarter" idx="12"/>
          </p:nvPr>
        </p:nvSpPr>
        <p:spPr/>
        <p:txBody>
          <a:bodyPr/>
          <a:lstStyle/>
          <a:p>
            <a:fld id="{7B3DFCFE-842E-40F2-A75B-98C430601D50}" type="slidenum">
              <a:rPr lang="en-CA" smtClean="0"/>
              <a:t>3</a:t>
            </a:fld>
            <a:endParaRPr lang="en-C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126AC-7B27-110F-FAC5-B578484AF5C6}"/>
              </a:ext>
            </a:extLst>
          </p:cNvPr>
          <p:cNvSpPr>
            <a:spLocks noGrp="1"/>
          </p:cNvSpPr>
          <p:nvPr>
            <p:ph type="title"/>
          </p:nvPr>
        </p:nvSpPr>
        <p:spPr>
          <a:xfrm>
            <a:off x="1148024" y="571374"/>
            <a:ext cx="9895951" cy="1033669"/>
          </a:xfrm>
        </p:spPr>
        <p:txBody>
          <a:bodyPr>
            <a:normAutofit/>
          </a:bodyPr>
          <a:lstStyle/>
          <a:p>
            <a:r>
              <a:rPr lang="en-CA" sz="6000" dirty="0">
                <a:solidFill>
                  <a:schemeClr val="tx1"/>
                </a:solidFill>
              </a:rPr>
              <a:t>Reproducibility Failure Example</a:t>
            </a:r>
          </a:p>
        </p:txBody>
      </p:sp>
      <p:pic>
        <p:nvPicPr>
          <p:cNvPr id="15" name="Picture 14">
            <a:extLst>
              <a:ext uri="{FF2B5EF4-FFF2-40B4-BE49-F238E27FC236}">
                <a16:creationId xmlns:a16="http://schemas.microsoft.com/office/drawing/2014/main" id="{5C2120D9-AB0A-4628-2193-37D5DF397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3458" y="720843"/>
            <a:ext cx="9144019" cy="6400813"/>
          </a:xfrm>
          <a:prstGeom prst="rect">
            <a:avLst/>
          </a:prstGeom>
        </p:spPr>
      </p:pic>
      <p:sp>
        <p:nvSpPr>
          <p:cNvPr id="17" name="TextBox 16">
            <a:extLst>
              <a:ext uri="{FF2B5EF4-FFF2-40B4-BE49-F238E27FC236}">
                <a16:creationId xmlns:a16="http://schemas.microsoft.com/office/drawing/2014/main" id="{87EA6B76-8691-1835-ED37-86C6B0B4B819}"/>
              </a:ext>
            </a:extLst>
          </p:cNvPr>
          <p:cNvSpPr txBox="1"/>
          <p:nvPr/>
        </p:nvSpPr>
        <p:spPr>
          <a:xfrm>
            <a:off x="9531540" y="6061166"/>
            <a:ext cx="2272937" cy="276999"/>
          </a:xfrm>
          <a:prstGeom prst="rect">
            <a:avLst/>
          </a:prstGeom>
          <a:noFill/>
        </p:spPr>
        <p:txBody>
          <a:bodyPr wrap="square" rtlCol="0">
            <a:spAutoFit/>
          </a:bodyPr>
          <a:lstStyle/>
          <a:p>
            <a:r>
              <a:rPr lang="en-US" sz="1200" dirty="0"/>
              <a:t>Made with </a:t>
            </a:r>
            <a:r>
              <a:rPr lang="en-US" sz="1200" dirty="0" err="1"/>
              <a:t>Biorender</a:t>
            </a:r>
            <a:endParaRPr lang="en-CA" sz="1200" dirty="0"/>
          </a:p>
        </p:txBody>
      </p:sp>
    </p:spTree>
    <p:extLst>
      <p:ext uri="{BB962C8B-B14F-4D97-AF65-F5344CB8AC3E}">
        <p14:creationId xmlns:p14="http://schemas.microsoft.com/office/powerpoint/2010/main" val="2312503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A75C9B-4FCA-DED5-83F3-8DC09E11F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9D4990-DA4F-6B25-A3FE-11AD493A582D}"/>
              </a:ext>
            </a:extLst>
          </p:cNvPr>
          <p:cNvSpPr>
            <a:spLocks noGrp="1"/>
          </p:cNvSpPr>
          <p:nvPr>
            <p:ph type="title"/>
          </p:nvPr>
        </p:nvSpPr>
        <p:spPr>
          <a:xfrm>
            <a:off x="1148024" y="571374"/>
            <a:ext cx="9895951" cy="1033669"/>
          </a:xfrm>
        </p:spPr>
        <p:txBody>
          <a:bodyPr>
            <a:normAutofit/>
          </a:bodyPr>
          <a:lstStyle/>
          <a:p>
            <a:r>
              <a:rPr lang="en-CA" sz="6000" dirty="0">
                <a:solidFill>
                  <a:schemeClr val="tx1"/>
                </a:solidFill>
              </a:rPr>
              <a:t>Reproducibility Failure Example</a:t>
            </a:r>
          </a:p>
        </p:txBody>
      </p:sp>
      <p:pic>
        <p:nvPicPr>
          <p:cNvPr id="4" name="Picture 3">
            <a:extLst>
              <a:ext uri="{FF2B5EF4-FFF2-40B4-BE49-F238E27FC236}">
                <a16:creationId xmlns:a16="http://schemas.microsoft.com/office/drawing/2014/main" id="{F2538280-1399-A6CD-DDC7-C176E4ED10B4}"/>
              </a:ext>
            </a:extLst>
          </p:cNvPr>
          <p:cNvPicPr>
            <a:picLocks noChangeAspect="1"/>
          </p:cNvPicPr>
          <p:nvPr/>
        </p:nvPicPr>
        <p:blipFill>
          <a:blip r:embed="rId3"/>
          <a:stretch>
            <a:fillRect/>
          </a:stretch>
        </p:blipFill>
        <p:spPr>
          <a:xfrm>
            <a:off x="936538" y="1605043"/>
            <a:ext cx="10256069" cy="4515480"/>
          </a:xfrm>
          <a:prstGeom prst="rect">
            <a:avLst/>
          </a:prstGeom>
        </p:spPr>
      </p:pic>
      <p:sp>
        <p:nvSpPr>
          <p:cNvPr id="6" name="TextBox 5">
            <a:extLst>
              <a:ext uri="{FF2B5EF4-FFF2-40B4-BE49-F238E27FC236}">
                <a16:creationId xmlns:a16="http://schemas.microsoft.com/office/drawing/2014/main" id="{8FC24713-B3A9-291B-0098-4F66BEC87A85}"/>
              </a:ext>
            </a:extLst>
          </p:cNvPr>
          <p:cNvSpPr txBox="1"/>
          <p:nvPr/>
        </p:nvSpPr>
        <p:spPr>
          <a:xfrm>
            <a:off x="9531540" y="6061166"/>
            <a:ext cx="2272937" cy="276999"/>
          </a:xfrm>
          <a:prstGeom prst="rect">
            <a:avLst/>
          </a:prstGeom>
          <a:noFill/>
        </p:spPr>
        <p:txBody>
          <a:bodyPr wrap="square" rtlCol="0">
            <a:spAutoFit/>
          </a:bodyPr>
          <a:lstStyle/>
          <a:p>
            <a:r>
              <a:rPr lang="en-US" sz="1200" dirty="0"/>
              <a:t>Made with </a:t>
            </a:r>
            <a:r>
              <a:rPr lang="en-US" sz="1200" dirty="0" err="1"/>
              <a:t>Biorender</a:t>
            </a:r>
            <a:endParaRPr lang="en-CA" sz="1200" dirty="0"/>
          </a:p>
        </p:txBody>
      </p:sp>
    </p:spTree>
    <p:extLst>
      <p:ext uri="{BB962C8B-B14F-4D97-AF65-F5344CB8AC3E}">
        <p14:creationId xmlns:p14="http://schemas.microsoft.com/office/powerpoint/2010/main" val="1975023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1948D-FEDF-B5D7-0731-BA12A8C04A49}"/>
              </a:ext>
            </a:extLst>
          </p:cNvPr>
          <p:cNvSpPr>
            <a:spLocks noGrp="1"/>
          </p:cNvSpPr>
          <p:nvPr>
            <p:ph type="title"/>
          </p:nvPr>
        </p:nvSpPr>
        <p:spPr>
          <a:xfrm>
            <a:off x="1371599" y="561238"/>
            <a:ext cx="9895951" cy="1033669"/>
          </a:xfrm>
        </p:spPr>
        <p:txBody>
          <a:bodyPr>
            <a:normAutofit/>
          </a:bodyPr>
          <a:lstStyle/>
          <a:p>
            <a:r>
              <a:rPr lang="en-CA" sz="6000" dirty="0">
                <a:solidFill>
                  <a:schemeClr val="tx1"/>
                </a:solidFill>
              </a:rPr>
              <a:t>Docker</a:t>
            </a:r>
            <a:endParaRPr lang="en-CA" sz="5400" dirty="0">
              <a:solidFill>
                <a:schemeClr val="tx1"/>
              </a:solidFill>
            </a:endParaRPr>
          </a:p>
        </p:txBody>
      </p:sp>
      <p:sp>
        <p:nvSpPr>
          <p:cNvPr id="3" name="Content Placeholder 2">
            <a:extLst>
              <a:ext uri="{FF2B5EF4-FFF2-40B4-BE49-F238E27FC236}">
                <a16:creationId xmlns:a16="http://schemas.microsoft.com/office/drawing/2014/main" id="{176FA713-60D5-9AA2-7650-B2692BED7D88}"/>
              </a:ext>
            </a:extLst>
          </p:cNvPr>
          <p:cNvSpPr>
            <a:spLocks noGrp="1"/>
          </p:cNvSpPr>
          <p:nvPr>
            <p:ph idx="1"/>
          </p:nvPr>
        </p:nvSpPr>
        <p:spPr>
          <a:xfrm>
            <a:off x="1371599" y="2145067"/>
            <a:ext cx="9724031" cy="1970731"/>
          </a:xfrm>
        </p:spPr>
        <p:txBody>
          <a:bodyPr anchor="ctr">
            <a:normAutofit/>
          </a:bodyPr>
          <a:lstStyle/>
          <a:p>
            <a:pPr>
              <a:buFont typeface="Wingdings" panose="05000000000000000000" pitchFamily="2" charset="2"/>
              <a:buChar char="§"/>
            </a:pPr>
            <a:r>
              <a:rPr lang="en-US" sz="2800" dirty="0"/>
              <a:t> Docker is a platform that packages code together with all the software and settings it depends on</a:t>
            </a:r>
          </a:p>
          <a:p>
            <a:pPr>
              <a:buFont typeface="Wingdings" panose="05000000000000000000" pitchFamily="2" charset="2"/>
              <a:buChar char="§"/>
            </a:pPr>
            <a:r>
              <a:rPr lang="en-US" sz="2800" dirty="0"/>
              <a:t> Helps ensure that code runs the same way across different devices</a:t>
            </a:r>
          </a:p>
          <a:p>
            <a:endParaRPr lang="en-CA" sz="2800" dirty="0"/>
          </a:p>
        </p:txBody>
      </p:sp>
      <p:pic>
        <p:nvPicPr>
          <p:cNvPr id="5" name="Picture 4">
            <a:extLst>
              <a:ext uri="{FF2B5EF4-FFF2-40B4-BE49-F238E27FC236}">
                <a16:creationId xmlns:a16="http://schemas.microsoft.com/office/drawing/2014/main" id="{835DC11B-7178-41B1-4259-EB14444A143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495800" y="3429000"/>
            <a:ext cx="3200400" cy="2733675"/>
          </a:xfrm>
          <a:prstGeom prst="rect">
            <a:avLst/>
          </a:prstGeom>
        </p:spPr>
      </p:pic>
    </p:spTree>
    <p:extLst>
      <p:ext uri="{BB962C8B-B14F-4D97-AF65-F5344CB8AC3E}">
        <p14:creationId xmlns:p14="http://schemas.microsoft.com/office/powerpoint/2010/main" val="873050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E2B74-0339-9186-29B1-55F93A48A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68A598-7955-6FC4-F5D9-A47D58CB8A2F}"/>
              </a:ext>
            </a:extLst>
          </p:cNvPr>
          <p:cNvSpPr>
            <a:spLocks noGrp="1"/>
          </p:cNvSpPr>
          <p:nvPr>
            <p:ph type="title"/>
          </p:nvPr>
        </p:nvSpPr>
        <p:spPr>
          <a:xfrm>
            <a:off x="1371599" y="561238"/>
            <a:ext cx="9895951" cy="1033669"/>
          </a:xfrm>
        </p:spPr>
        <p:txBody>
          <a:bodyPr>
            <a:normAutofit/>
          </a:bodyPr>
          <a:lstStyle/>
          <a:p>
            <a:r>
              <a:rPr lang="en-CA" sz="6000" dirty="0">
                <a:solidFill>
                  <a:schemeClr val="tx1"/>
                </a:solidFill>
              </a:rPr>
              <a:t>Downloading Docker</a:t>
            </a:r>
            <a:endParaRPr lang="en-CA" sz="5400" dirty="0">
              <a:solidFill>
                <a:schemeClr val="tx1"/>
              </a:solidFill>
            </a:endParaRPr>
          </a:p>
        </p:txBody>
      </p:sp>
      <p:sp>
        <p:nvSpPr>
          <p:cNvPr id="3" name="Content Placeholder 2">
            <a:extLst>
              <a:ext uri="{FF2B5EF4-FFF2-40B4-BE49-F238E27FC236}">
                <a16:creationId xmlns:a16="http://schemas.microsoft.com/office/drawing/2014/main" id="{A2696F61-F634-20BE-B346-4F9F065C5936}"/>
              </a:ext>
            </a:extLst>
          </p:cNvPr>
          <p:cNvSpPr>
            <a:spLocks noGrp="1"/>
          </p:cNvSpPr>
          <p:nvPr>
            <p:ph idx="1"/>
          </p:nvPr>
        </p:nvSpPr>
        <p:spPr>
          <a:xfrm>
            <a:off x="1371599" y="2145067"/>
            <a:ext cx="9724031" cy="2444350"/>
          </a:xfrm>
        </p:spPr>
        <p:txBody>
          <a:bodyPr anchor="ctr">
            <a:normAutofit/>
          </a:bodyPr>
          <a:lstStyle/>
          <a:p>
            <a:pPr>
              <a:buFont typeface="Wingdings" panose="05000000000000000000" pitchFamily="2" charset="2"/>
              <a:buChar char="§"/>
            </a:pPr>
            <a:r>
              <a:rPr lang="en-US" sz="2800" dirty="0"/>
              <a:t> Docker can be downloaded here: </a:t>
            </a:r>
            <a:r>
              <a:rPr lang="en-CA" sz="2800" dirty="0">
                <a:hlinkClick r:id="rId3"/>
              </a:rPr>
              <a:t>https://docs.docker.com/get-started/</a:t>
            </a:r>
            <a:endParaRPr lang="en-CA" sz="2800" dirty="0"/>
          </a:p>
          <a:p>
            <a:pPr>
              <a:buFont typeface="Wingdings" panose="05000000000000000000" pitchFamily="2" charset="2"/>
              <a:buChar char="§"/>
            </a:pPr>
            <a:r>
              <a:rPr lang="en-CA" sz="2800" dirty="0"/>
              <a:t> Also downloads desktop app </a:t>
            </a:r>
            <a:r>
              <a:rPr lang="en-CA" sz="2800" dirty="0" err="1"/>
              <a:t>DockerDesktop</a:t>
            </a:r>
            <a:endParaRPr lang="en-CA" sz="2800" dirty="0"/>
          </a:p>
          <a:p>
            <a:pPr marL="0" indent="0">
              <a:buNone/>
            </a:pPr>
            <a:endParaRPr lang="en-US" sz="2800" dirty="0"/>
          </a:p>
          <a:p>
            <a:endParaRPr lang="en-CA" sz="2800" dirty="0"/>
          </a:p>
        </p:txBody>
      </p:sp>
      <p:pic>
        <p:nvPicPr>
          <p:cNvPr id="5" name="Picture 4">
            <a:extLst>
              <a:ext uri="{FF2B5EF4-FFF2-40B4-BE49-F238E27FC236}">
                <a16:creationId xmlns:a16="http://schemas.microsoft.com/office/drawing/2014/main" id="{C408DE8B-6639-BA26-715B-DF9F1ACB6859}"/>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192693" y="269966"/>
            <a:ext cx="1413656" cy="1207498"/>
          </a:xfrm>
          <a:prstGeom prst="rect">
            <a:avLst/>
          </a:prstGeom>
        </p:spPr>
      </p:pic>
    </p:spTree>
    <p:extLst>
      <p:ext uri="{BB962C8B-B14F-4D97-AF65-F5344CB8AC3E}">
        <p14:creationId xmlns:p14="http://schemas.microsoft.com/office/powerpoint/2010/main" val="28423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3EAF9-0160-796A-AA2C-86AD20F3345C}"/>
              </a:ext>
            </a:extLst>
          </p:cNvPr>
          <p:cNvSpPr txBox="1">
            <a:spLocks/>
          </p:cNvSpPr>
          <p:nvPr/>
        </p:nvSpPr>
        <p:spPr>
          <a:xfrm>
            <a:off x="699713" y="248038"/>
            <a:ext cx="8101387" cy="1159200"/>
          </a:xfrm>
          <a:prstGeom prst="rect">
            <a:avLst/>
          </a:prstGeom>
        </p:spPr>
        <p:txBody>
          <a:bodyPr vert="horz" lIns="91440" tIns="45720" rIns="91440" bIns="45720" rtlCol="0" anchor="ctr">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6000" dirty="0">
                <a:solidFill>
                  <a:schemeClr val="tx1"/>
                </a:solidFill>
              </a:rPr>
              <a:t>Docker Essential Concepts</a:t>
            </a:r>
          </a:p>
        </p:txBody>
      </p:sp>
      <p:sp>
        <p:nvSpPr>
          <p:cNvPr id="5" name="TextBox 4">
            <a:extLst>
              <a:ext uri="{FF2B5EF4-FFF2-40B4-BE49-F238E27FC236}">
                <a16:creationId xmlns:a16="http://schemas.microsoft.com/office/drawing/2014/main" id="{19F1634D-F05C-E271-7828-3506C5F32BDE}"/>
              </a:ext>
            </a:extLst>
          </p:cNvPr>
          <p:cNvSpPr txBox="1"/>
          <p:nvPr/>
        </p:nvSpPr>
        <p:spPr>
          <a:xfrm>
            <a:off x="9531540" y="6061166"/>
            <a:ext cx="2272937" cy="276999"/>
          </a:xfrm>
          <a:prstGeom prst="rect">
            <a:avLst/>
          </a:prstGeom>
          <a:noFill/>
        </p:spPr>
        <p:txBody>
          <a:bodyPr wrap="square" rtlCol="0">
            <a:spAutoFit/>
          </a:bodyPr>
          <a:lstStyle/>
          <a:p>
            <a:r>
              <a:rPr lang="en-US" sz="1200" dirty="0"/>
              <a:t>Made with </a:t>
            </a:r>
            <a:r>
              <a:rPr lang="en-US" sz="1200" dirty="0" err="1"/>
              <a:t>Biorender</a:t>
            </a:r>
            <a:endParaRPr lang="en-CA" sz="1200" dirty="0"/>
          </a:p>
        </p:txBody>
      </p:sp>
      <p:pic>
        <p:nvPicPr>
          <p:cNvPr id="7" name="Picture 6">
            <a:extLst>
              <a:ext uri="{FF2B5EF4-FFF2-40B4-BE49-F238E27FC236}">
                <a16:creationId xmlns:a16="http://schemas.microsoft.com/office/drawing/2014/main" id="{AD8FC8FB-2CF1-1FA6-470E-377D5E4EDE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990" y="228593"/>
            <a:ext cx="9144019" cy="6400813"/>
          </a:xfrm>
          <a:prstGeom prst="rect">
            <a:avLst/>
          </a:prstGeom>
        </p:spPr>
      </p:pic>
    </p:spTree>
    <p:extLst>
      <p:ext uri="{BB962C8B-B14F-4D97-AF65-F5344CB8AC3E}">
        <p14:creationId xmlns:p14="http://schemas.microsoft.com/office/powerpoint/2010/main" val="3476806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E5964-1C49-EAF4-8610-3DAD01079040}"/>
              </a:ext>
            </a:extLst>
          </p:cNvPr>
          <p:cNvSpPr>
            <a:spLocks noGrp="1"/>
          </p:cNvSpPr>
          <p:nvPr>
            <p:ph type="title"/>
          </p:nvPr>
        </p:nvSpPr>
        <p:spPr>
          <a:xfrm>
            <a:off x="1148024" y="558698"/>
            <a:ext cx="9895951" cy="1033669"/>
          </a:xfrm>
        </p:spPr>
        <p:txBody>
          <a:bodyPr>
            <a:normAutofit/>
          </a:bodyPr>
          <a:lstStyle/>
          <a:p>
            <a:r>
              <a:rPr lang="en-CA" sz="6000" dirty="0">
                <a:solidFill>
                  <a:schemeClr val="tx1"/>
                </a:solidFill>
              </a:rPr>
              <a:t>Creating</a:t>
            </a:r>
            <a:r>
              <a:rPr lang="en-CA" sz="4000" dirty="0">
                <a:solidFill>
                  <a:schemeClr val="tx1"/>
                </a:solidFill>
              </a:rPr>
              <a:t> </a:t>
            </a:r>
            <a:r>
              <a:rPr lang="en-CA" sz="6000" dirty="0">
                <a:solidFill>
                  <a:schemeClr val="tx1"/>
                </a:solidFill>
              </a:rPr>
              <a:t>a </a:t>
            </a:r>
            <a:r>
              <a:rPr lang="en-CA" sz="6000" dirty="0" err="1">
                <a:solidFill>
                  <a:schemeClr val="tx1"/>
                </a:solidFill>
              </a:rPr>
              <a:t>Dockerfile</a:t>
            </a:r>
            <a:endParaRPr lang="en-CA" sz="6000" dirty="0">
              <a:solidFill>
                <a:schemeClr val="tx1"/>
              </a:solidFill>
            </a:endParaRPr>
          </a:p>
        </p:txBody>
      </p:sp>
      <p:sp>
        <p:nvSpPr>
          <p:cNvPr id="3" name="Content Placeholder 2">
            <a:extLst>
              <a:ext uri="{FF2B5EF4-FFF2-40B4-BE49-F238E27FC236}">
                <a16:creationId xmlns:a16="http://schemas.microsoft.com/office/drawing/2014/main" id="{BAC3F734-91FA-D1E3-D218-A3A898E9D465}"/>
              </a:ext>
            </a:extLst>
          </p:cNvPr>
          <p:cNvSpPr>
            <a:spLocks noGrp="1"/>
          </p:cNvSpPr>
          <p:nvPr>
            <p:ph idx="1"/>
          </p:nvPr>
        </p:nvSpPr>
        <p:spPr>
          <a:xfrm>
            <a:off x="1319944" y="2318197"/>
            <a:ext cx="9724031" cy="3515280"/>
          </a:xfrm>
        </p:spPr>
        <p:txBody>
          <a:bodyPr anchor="ctr">
            <a:normAutofit/>
          </a:bodyPr>
          <a:lstStyle/>
          <a:p>
            <a:pPr marL="514350" indent="-514350">
              <a:buAutoNum type="arabicParenR"/>
            </a:pPr>
            <a:r>
              <a:rPr lang="en-CA" sz="2000" dirty="0"/>
              <a:t>Open a terminal within your project directory</a:t>
            </a:r>
          </a:p>
          <a:p>
            <a:pPr marL="514350" indent="-514350">
              <a:buAutoNum type="arabicParenR"/>
            </a:pPr>
            <a:r>
              <a:rPr lang="en-CA" sz="2000" dirty="0"/>
              <a:t>Use the following command: “Touch </a:t>
            </a:r>
            <a:r>
              <a:rPr lang="en-CA" sz="2000" dirty="0" err="1"/>
              <a:t>Dockerfile</a:t>
            </a:r>
            <a:r>
              <a:rPr lang="en-CA" sz="2000" dirty="0"/>
              <a:t>”</a:t>
            </a:r>
          </a:p>
          <a:p>
            <a:pPr marL="0" indent="0">
              <a:buNone/>
            </a:pPr>
            <a:r>
              <a:rPr lang="en-CA" b="1" dirty="0"/>
              <a:t>OR</a:t>
            </a:r>
            <a:endParaRPr lang="en-CA" dirty="0"/>
          </a:p>
          <a:p>
            <a:pPr marL="514350" indent="-514350">
              <a:buAutoNum type="arabicParenR"/>
            </a:pPr>
            <a:r>
              <a:rPr lang="en-CA" dirty="0"/>
              <a:t>Create new file in RStudio</a:t>
            </a:r>
          </a:p>
          <a:p>
            <a:pPr marL="514350" indent="-514350">
              <a:buAutoNum type="arabicParenR"/>
            </a:pPr>
            <a:r>
              <a:rPr lang="en-CA" dirty="0"/>
              <a:t>Save file as “</a:t>
            </a:r>
            <a:r>
              <a:rPr lang="en-CA" dirty="0" err="1"/>
              <a:t>Dockerfile</a:t>
            </a:r>
            <a:r>
              <a:rPr lang="en-CA" dirty="0"/>
              <a:t>”</a:t>
            </a:r>
          </a:p>
          <a:p>
            <a:pPr marL="0" indent="0">
              <a:buNone/>
            </a:pPr>
            <a:endParaRPr lang="en-CA" dirty="0"/>
          </a:p>
          <a:p>
            <a:pPr marL="0" indent="0">
              <a:buNone/>
            </a:pPr>
            <a:r>
              <a:rPr lang="en-CA" sz="2000" b="1" dirty="0"/>
              <a:t>NOTE</a:t>
            </a:r>
            <a:r>
              <a:rPr lang="en-CA" sz="2000" dirty="0"/>
              <a:t>: Typically use one </a:t>
            </a:r>
            <a:r>
              <a:rPr lang="en-CA" sz="2000" dirty="0" err="1"/>
              <a:t>Dockerfile</a:t>
            </a:r>
            <a:r>
              <a:rPr lang="en-CA" sz="2000" dirty="0"/>
              <a:t> for one task!</a:t>
            </a:r>
            <a:endParaRPr lang="en-CA" sz="2000" b="1" dirty="0"/>
          </a:p>
          <a:p>
            <a:pPr marL="514350" indent="-514350">
              <a:buAutoNum type="arabicParenR"/>
            </a:pPr>
            <a:endParaRPr lang="en-CA" sz="2000" dirty="0"/>
          </a:p>
        </p:txBody>
      </p:sp>
      <p:pic>
        <p:nvPicPr>
          <p:cNvPr id="5" name="Picture 4">
            <a:extLst>
              <a:ext uri="{FF2B5EF4-FFF2-40B4-BE49-F238E27FC236}">
                <a16:creationId xmlns:a16="http://schemas.microsoft.com/office/drawing/2014/main" id="{3547711D-F1C9-CEB0-52BD-22EE6BF96149}"/>
              </a:ext>
            </a:extLst>
          </p:cNvPr>
          <p:cNvPicPr>
            <a:picLocks noChangeAspect="1"/>
          </p:cNvPicPr>
          <p:nvPr/>
        </p:nvPicPr>
        <p:blipFill>
          <a:blip r:embed="rId3"/>
          <a:stretch>
            <a:fillRect/>
          </a:stretch>
        </p:blipFill>
        <p:spPr>
          <a:xfrm>
            <a:off x="7522768" y="2318197"/>
            <a:ext cx="3572862" cy="2847124"/>
          </a:xfrm>
          <a:prstGeom prst="rect">
            <a:avLst/>
          </a:prstGeom>
        </p:spPr>
      </p:pic>
    </p:spTree>
    <p:extLst>
      <p:ext uri="{BB962C8B-B14F-4D97-AF65-F5344CB8AC3E}">
        <p14:creationId xmlns:p14="http://schemas.microsoft.com/office/powerpoint/2010/main" val="2509867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3E71B-9089-CB2E-1333-259C8C20C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42C12E-3735-047F-4449-A4BF0B349A32}"/>
              </a:ext>
            </a:extLst>
          </p:cNvPr>
          <p:cNvSpPr>
            <a:spLocks noGrp="1"/>
          </p:cNvSpPr>
          <p:nvPr>
            <p:ph type="title"/>
          </p:nvPr>
        </p:nvSpPr>
        <p:spPr>
          <a:xfrm>
            <a:off x="1148024" y="558698"/>
            <a:ext cx="9895951" cy="1033669"/>
          </a:xfrm>
        </p:spPr>
        <p:txBody>
          <a:bodyPr>
            <a:normAutofit/>
          </a:bodyPr>
          <a:lstStyle/>
          <a:p>
            <a:r>
              <a:rPr lang="en-CA" sz="6000" dirty="0">
                <a:solidFill>
                  <a:schemeClr val="tx1"/>
                </a:solidFill>
              </a:rPr>
              <a:t>Creating</a:t>
            </a:r>
            <a:r>
              <a:rPr lang="en-CA" sz="4000" dirty="0">
                <a:solidFill>
                  <a:schemeClr val="tx1"/>
                </a:solidFill>
              </a:rPr>
              <a:t> </a:t>
            </a:r>
            <a:r>
              <a:rPr lang="en-CA" sz="6000" dirty="0">
                <a:solidFill>
                  <a:schemeClr val="tx1"/>
                </a:solidFill>
              </a:rPr>
              <a:t>a Docker Image</a:t>
            </a:r>
          </a:p>
        </p:txBody>
      </p:sp>
      <p:sp>
        <p:nvSpPr>
          <p:cNvPr id="3" name="Content Placeholder 2">
            <a:extLst>
              <a:ext uri="{FF2B5EF4-FFF2-40B4-BE49-F238E27FC236}">
                <a16:creationId xmlns:a16="http://schemas.microsoft.com/office/drawing/2014/main" id="{67DB5C63-AF89-878D-0426-17F45E3C90F5}"/>
              </a:ext>
            </a:extLst>
          </p:cNvPr>
          <p:cNvSpPr>
            <a:spLocks noGrp="1"/>
          </p:cNvSpPr>
          <p:nvPr>
            <p:ph idx="1"/>
          </p:nvPr>
        </p:nvSpPr>
        <p:spPr>
          <a:xfrm>
            <a:off x="1319944" y="2001161"/>
            <a:ext cx="9724031" cy="1033669"/>
          </a:xfrm>
        </p:spPr>
        <p:txBody>
          <a:bodyPr anchor="ctr">
            <a:normAutofit/>
          </a:bodyPr>
          <a:lstStyle/>
          <a:p>
            <a:pPr>
              <a:buFont typeface="Wingdings" panose="05000000000000000000" pitchFamily="2" charset="2"/>
              <a:buChar char="§"/>
            </a:pPr>
            <a:r>
              <a:rPr lang="en-US" sz="2000" dirty="0"/>
              <a:t> Use the following command: </a:t>
            </a:r>
          </a:p>
          <a:p>
            <a:pPr marL="0" indent="0">
              <a:buNone/>
            </a:pPr>
            <a:endParaRPr lang="en-CA" sz="2000" dirty="0"/>
          </a:p>
        </p:txBody>
      </p:sp>
      <p:pic>
        <p:nvPicPr>
          <p:cNvPr id="6" name="Picture 5">
            <a:extLst>
              <a:ext uri="{FF2B5EF4-FFF2-40B4-BE49-F238E27FC236}">
                <a16:creationId xmlns:a16="http://schemas.microsoft.com/office/drawing/2014/main" id="{37F47065-B5FF-5C8F-D964-1F052407A2C8}"/>
              </a:ext>
            </a:extLst>
          </p:cNvPr>
          <p:cNvPicPr>
            <a:picLocks noChangeAspect="1"/>
          </p:cNvPicPr>
          <p:nvPr/>
        </p:nvPicPr>
        <p:blipFill>
          <a:blip r:embed="rId2"/>
          <a:stretch>
            <a:fillRect/>
          </a:stretch>
        </p:blipFill>
        <p:spPr>
          <a:xfrm>
            <a:off x="8988269" y="2794000"/>
            <a:ext cx="2561793" cy="2264356"/>
          </a:xfrm>
          <a:prstGeom prst="rect">
            <a:avLst/>
          </a:prstGeom>
        </p:spPr>
      </p:pic>
      <p:sp>
        <p:nvSpPr>
          <p:cNvPr id="10" name="TextBox 9">
            <a:extLst>
              <a:ext uri="{FF2B5EF4-FFF2-40B4-BE49-F238E27FC236}">
                <a16:creationId xmlns:a16="http://schemas.microsoft.com/office/drawing/2014/main" id="{972FB5AA-1C0D-3D50-8FE7-01605196BDA2}"/>
              </a:ext>
            </a:extLst>
          </p:cNvPr>
          <p:cNvSpPr txBox="1"/>
          <p:nvPr/>
        </p:nvSpPr>
        <p:spPr>
          <a:xfrm>
            <a:off x="1319944" y="3282517"/>
            <a:ext cx="7904480" cy="292965"/>
          </a:xfrm>
          <a:prstGeom prst="rect">
            <a:avLst/>
          </a:prstGeom>
          <a:noFill/>
        </p:spPr>
        <p:txBody>
          <a:bodyPr wrap="square">
            <a:spAutoFit/>
          </a:bodyPr>
          <a:lstStyle/>
          <a:p>
            <a:pPr>
              <a:lnSpc>
                <a:spcPts val="1425"/>
              </a:lnSpc>
              <a:buNone/>
            </a:pPr>
            <a:r>
              <a:rPr lang="de-DE" sz="2000" b="0" dirty="0" err="1">
                <a:solidFill>
                  <a:srgbClr val="000000"/>
                </a:solidFill>
                <a:effectLst/>
                <a:latin typeface="Consolas" panose="020B0609020204030204" pitchFamily="49" charset="0"/>
              </a:rPr>
              <a:t>docker</a:t>
            </a:r>
            <a:r>
              <a:rPr lang="de-DE" sz="2000" b="0" dirty="0">
                <a:solidFill>
                  <a:srgbClr val="000000"/>
                </a:solidFill>
                <a:effectLst/>
                <a:latin typeface="Consolas" panose="020B0609020204030204" pitchFamily="49" charset="0"/>
              </a:rPr>
              <a:t> </a:t>
            </a:r>
            <a:r>
              <a:rPr lang="de-DE" sz="2000" b="0" dirty="0" err="1">
                <a:solidFill>
                  <a:srgbClr val="000000"/>
                </a:solidFill>
                <a:effectLst/>
                <a:latin typeface="Consolas" panose="020B0609020204030204" pitchFamily="49" charset="0"/>
              </a:rPr>
              <a:t>build</a:t>
            </a:r>
            <a:r>
              <a:rPr lang="de-DE" sz="2000" b="0" dirty="0">
                <a:solidFill>
                  <a:srgbClr val="000000"/>
                </a:solidFill>
                <a:effectLst/>
                <a:latin typeface="Consolas" panose="020B0609020204030204" pitchFamily="49" charset="0"/>
              </a:rPr>
              <a:t> -t [IMAGE_NAME] -f [DOCKERFILE_PATH] .</a:t>
            </a:r>
          </a:p>
        </p:txBody>
      </p:sp>
      <p:sp>
        <p:nvSpPr>
          <p:cNvPr id="11" name="Rectangle 10">
            <a:extLst>
              <a:ext uri="{FF2B5EF4-FFF2-40B4-BE49-F238E27FC236}">
                <a16:creationId xmlns:a16="http://schemas.microsoft.com/office/drawing/2014/main" id="{E320DD8E-ACCF-A099-A3C8-827D6621BE23}"/>
              </a:ext>
            </a:extLst>
          </p:cNvPr>
          <p:cNvSpPr/>
          <p:nvPr/>
        </p:nvSpPr>
        <p:spPr>
          <a:xfrm>
            <a:off x="3203732" y="3159760"/>
            <a:ext cx="2170908" cy="51816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2" name="Rectangle 11">
            <a:extLst>
              <a:ext uri="{FF2B5EF4-FFF2-40B4-BE49-F238E27FC236}">
                <a16:creationId xmlns:a16="http://schemas.microsoft.com/office/drawing/2014/main" id="{F420DD9E-5FC0-1798-3CAA-37FD91E8C77B}"/>
              </a:ext>
            </a:extLst>
          </p:cNvPr>
          <p:cNvSpPr/>
          <p:nvPr/>
        </p:nvSpPr>
        <p:spPr>
          <a:xfrm>
            <a:off x="5452004" y="3169919"/>
            <a:ext cx="2818235" cy="51816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Rectangle 12">
            <a:extLst>
              <a:ext uri="{FF2B5EF4-FFF2-40B4-BE49-F238E27FC236}">
                <a16:creationId xmlns:a16="http://schemas.microsoft.com/office/drawing/2014/main" id="{F5221854-7371-1258-9324-21182E274E27}"/>
              </a:ext>
            </a:extLst>
          </p:cNvPr>
          <p:cNvSpPr/>
          <p:nvPr/>
        </p:nvSpPr>
        <p:spPr>
          <a:xfrm>
            <a:off x="8347603" y="3159760"/>
            <a:ext cx="257917" cy="51816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Right 16">
            <a:extLst>
              <a:ext uri="{FF2B5EF4-FFF2-40B4-BE49-F238E27FC236}">
                <a16:creationId xmlns:a16="http://schemas.microsoft.com/office/drawing/2014/main" id="{A9233151-5EFE-A451-A356-327EC6119049}"/>
              </a:ext>
            </a:extLst>
          </p:cNvPr>
          <p:cNvSpPr/>
          <p:nvPr/>
        </p:nvSpPr>
        <p:spPr>
          <a:xfrm rot="18403541">
            <a:off x="2869310" y="4006994"/>
            <a:ext cx="863361" cy="1852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CC417761-04F5-1F90-B8DE-7D82AE86235A}"/>
              </a:ext>
            </a:extLst>
          </p:cNvPr>
          <p:cNvSpPr txBox="1"/>
          <p:nvPr/>
        </p:nvSpPr>
        <p:spPr>
          <a:xfrm>
            <a:off x="1962765" y="4521336"/>
            <a:ext cx="2011680" cy="646331"/>
          </a:xfrm>
          <a:prstGeom prst="rect">
            <a:avLst/>
          </a:prstGeom>
          <a:noFill/>
        </p:spPr>
        <p:txBody>
          <a:bodyPr wrap="square" rtlCol="0">
            <a:spAutoFit/>
          </a:bodyPr>
          <a:lstStyle/>
          <a:p>
            <a:r>
              <a:rPr lang="en-US" dirty="0">
                <a:solidFill>
                  <a:srgbClr val="FF0000"/>
                </a:solidFill>
              </a:rPr>
              <a:t>What to name your docker image</a:t>
            </a:r>
            <a:endParaRPr lang="en-CA" dirty="0">
              <a:solidFill>
                <a:srgbClr val="FF0000"/>
              </a:solidFill>
            </a:endParaRPr>
          </a:p>
        </p:txBody>
      </p:sp>
      <p:sp>
        <p:nvSpPr>
          <p:cNvPr id="19" name="Arrow: Right 18">
            <a:extLst>
              <a:ext uri="{FF2B5EF4-FFF2-40B4-BE49-F238E27FC236}">
                <a16:creationId xmlns:a16="http://schemas.microsoft.com/office/drawing/2014/main" id="{B48F06DC-EFCF-1836-C7CB-604485940DF9}"/>
              </a:ext>
            </a:extLst>
          </p:cNvPr>
          <p:cNvSpPr/>
          <p:nvPr/>
        </p:nvSpPr>
        <p:spPr>
          <a:xfrm rot="18403541">
            <a:off x="5275344" y="4027313"/>
            <a:ext cx="863361" cy="1852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F8B48F2A-EFD2-5CD6-4761-D52DB42E9E58}"/>
              </a:ext>
            </a:extLst>
          </p:cNvPr>
          <p:cNvSpPr txBox="1"/>
          <p:nvPr/>
        </p:nvSpPr>
        <p:spPr>
          <a:xfrm>
            <a:off x="4266344" y="4551815"/>
            <a:ext cx="2011680" cy="646331"/>
          </a:xfrm>
          <a:prstGeom prst="rect">
            <a:avLst/>
          </a:prstGeom>
          <a:noFill/>
        </p:spPr>
        <p:txBody>
          <a:bodyPr wrap="square" rtlCol="0">
            <a:spAutoFit/>
          </a:bodyPr>
          <a:lstStyle/>
          <a:p>
            <a:r>
              <a:rPr lang="en-US" dirty="0">
                <a:solidFill>
                  <a:srgbClr val="FF0000"/>
                </a:solidFill>
              </a:rPr>
              <a:t>Where your </a:t>
            </a:r>
            <a:r>
              <a:rPr lang="en-US" dirty="0" err="1">
                <a:solidFill>
                  <a:srgbClr val="FF0000"/>
                </a:solidFill>
              </a:rPr>
              <a:t>dockerfile</a:t>
            </a:r>
            <a:r>
              <a:rPr lang="en-US" dirty="0">
                <a:solidFill>
                  <a:srgbClr val="FF0000"/>
                </a:solidFill>
              </a:rPr>
              <a:t> is</a:t>
            </a:r>
            <a:endParaRPr lang="en-CA" dirty="0">
              <a:solidFill>
                <a:srgbClr val="FF0000"/>
              </a:solidFill>
            </a:endParaRPr>
          </a:p>
        </p:txBody>
      </p:sp>
      <p:sp>
        <p:nvSpPr>
          <p:cNvPr id="22" name="Arrow: Right 21">
            <a:extLst>
              <a:ext uri="{FF2B5EF4-FFF2-40B4-BE49-F238E27FC236}">
                <a16:creationId xmlns:a16="http://schemas.microsoft.com/office/drawing/2014/main" id="{C20C73D0-0EF3-DA21-9486-22173046F747}"/>
              </a:ext>
            </a:extLst>
          </p:cNvPr>
          <p:cNvSpPr/>
          <p:nvPr/>
        </p:nvSpPr>
        <p:spPr>
          <a:xfrm rot="18403541">
            <a:off x="7712497" y="4032462"/>
            <a:ext cx="863361" cy="1852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TextBox 22">
            <a:extLst>
              <a:ext uri="{FF2B5EF4-FFF2-40B4-BE49-F238E27FC236}">
                <a16:creationId xmlns:a16="http://schemas.microsoft.com/office/drawing/2014/main" id="{01BBE723-A074-8CBD-ABA3-CF25E81ED3F0}"/>
              </a:ext>
            </a:extLst>
          </p:cNvPr>
          <p:cNvSpPr txBox="1"/>
          <p:nvPr/>
        </p:nvSpPr>
        <p:spPr>
          <a:xfrm>
            <a:off x="6603999" y="4501017"/>
            <a:ext cx="2011680" cy="923330"/>
          </a:xfrm>
          <a:prstGeom prst="rect">
            <a:avLst/>
          </a:prstGeom>
          <a:noFill/>
        </p:spPr>
        <p:txBody>
          <a:bodyPr wrap="square" rtlCol="0">
            <a:spAutoFit/>
          </a:bodyPr>
          <a:lstStyle/>
          <a:p>
            <a:r>
              <a:rPr lang="en-US" dirty="0">
                <a:solidFill>
                  <a:srgbClr val="FF0000"/>
                </a:solidFill>
              </a:rPr>
              <a:t>Telling docker to use the current directory to build</a:t>
            </a:r>
            <a:endParaRPr lang="en-CA" dirty="0">
              <a:solidFill>
                <a:srgbClr val="FF0000"/>
              </a:solidFill>
            </a:endParaRPr>
          </a:p>
        </p:txBody>
      </p:sp>
    </p:spTree>
    <p:extLst>
      <p:ext uri="{BB962C8B-B14F-4D97-AF65-F5344CB8AC3E}">
        <p14:creationId xmlns:p14="http://schemas.microsoft.com/office/powerpoint/2010/main" val="2687798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7" grpId="0" animBg="1"/>
      <p:bldP spid="18" grpId="0"/>
      <p:bldP spid="19" grpId="0" animBg="1"/>
      <p:bldP spid="21" grpId="0"/>
      <p:bldP spid="22" grpId="0" animBg="1"/>
      <p:bldP spid="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CB828-9C6C-E475-1931-C59EEFB9C082}"/>
              </a:ext>
            </a:extLst>
          </p:cNvPr>
          <p:cNvSpPr>
            <a:spLocks noGrp="1"/>
          </p:cNvSpPr>
          <p:nvPr>
            <p:ph type="title"/>
          </p:nvPr>
        </p:nvSpPr>
        <p:spPr/>
        <p:txBody>
          <a:bodyPr/>
          <a:lstStyle/>
          <a:p>
            <a:r>
              <a:rPr lang="en-US" sz="6000" dirty="0"/>
              <a:t>Using</a:t>
            </a:r>
            <a:r>
              <a:rPr lang="en-US" dirty="0"/>
              <a:t> </a:t>
            </a:r>
            <a:r>
              <a:rPr lang="en-US" sz="6000" dirty="0"/>
              <a:t>Public Images</a:t>
            </a:r>
            <a:endParaRPr lang="en-CA" dirty="0"/>
          </a:p>
        </p:txBody>
      </p:sp>
      <p:sp>
        <p:nvSpPr>
          <p:cNvPr id="3" name="Content Placeholder 2">
            <a:extLst>
              <a:ext uri="{FF2B5EF4-FFF2-40B4-BE49-F238E27FC236}">
                <a16:creationId xmlns:a16="http://schemas.microsoft.com/office/drawing/2014/main" id="{6185D4D9-46E4-6B76-5F83-103231E32D14}"/>
              </a:ext>
            </a:extLst>
          </p:cNvPr>
          <p:cNvSpPr txBox="1">
            <a:spLocks/>
          </p:cNvSpPr>
          <p:nvPr/>
        </p:nvSpPr>
        <p:spPr>
          <a:xfrm>
            <a:off x="1319944" y="2001161"/>
            <a:ext cx="9724031" cy="1033669"/>
          </a:xfrm>
          <a:prstGeom prst="rect">
            <a:avLst/>
          </a:prstGeom>
        </p:spPr>
        <p:txBody>
          <a:bodyPr anchor="ctr">
            <a:normAutofit lnSpcReduction="10000"/>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
            </a:pPr>
            <a:r>
              <a:rPr lang="en-US" dirty="0"/>
              <a:t> Rather than compiling your own images from scratch: can use public images from </a:t>
            </a:r>
            <a:r>
              <a:rPr lang="en-US" dirty="0" err="1">
                <a:hlinkClick r:id="rId2"/>
              </a:rPr>
              <a:t>DockerHub</a:t>
            </a:r>
            <a:endParaRPr lang="en-US" dirty="0"/>
          </a:p>
          <a:p>
            <a:pPr>
              <a:buFont typeface="Wingdings" panose="05000000000000000000" pitchFamily="2" charset="2"/>
              <a:buChar char="§"/>
            </a:pPr>
            <a:r>
              <a:rPr lang="en-CA" dirty="0"/>
              <a:t> Use this command:</a:t>
            </a:r>
          </a:p>
        </p:txBody>
      </p:sp>
      <p:sp>
        <p:nvSpPr>
          <p:cNvPr id="5" name="TextBox 4">
            <a:extLst>
              <a:ext uri="{FF2B5EF4-FFF2-40B4-BE49-F238E27FC236}">
                <a16:creationId xmlns:a16="http://schemas.microsoft.com/office/drawing/2014/main" id="{028B06A9-1046-EBB0-FB31-0E0E23339D24}"/>
              </a:ext>
            </a:extLst>
          </p:cNvPr>
          <p:cNvSpPr txBox="1"/>
          <p:nvPr/>
        </p:nvSpPr>
        <p:spPr>
          <a:xfrm>
            <a:off x="1889429" y="3429000"/>
            <a:ext cx="8413141" cy="292965"/>
          </a:xfrm>
          <a:prstGeom prst="rect">
            <a:avLst/>
          </a:prstGeom>
          <a:noFill/>
        </p:spPr>
        <p:txBody>
          <a:bodyPr wrap="square">
            <a:spAutoFit/>
          </a:bodyPr>
          <a:lstStyle/>
          <a:p>
            <a:pPr>
              <a:lnSpc>
                <a:spcPts val="1425"/>
              </a:lnSpc>
              <a:buNone/>
            </a:pPr>
            <a:r>
              <a:rPr lang="en-US" sz="2000" b="0" dirty="0">
                <a:solidFill>
                  <a:srgbClr val="000000"/>
                </a:solidFill>
                <a:effectLst/>
                <a:latin typeface="Consolas" panose="020B0609020204030204" pitchFamily="49" charset="0"/>
              </a:rPr>
              <a:t>docker pull [</a:t>
            </a:r>
            <a:r>
              <a:rPr lang="en-US" sz="2000" b="0" dirty="0">
                <a:solidFill>
                  <a:srgbClr val="A31515"/>
                </a:solidFill>
                <a:effectLst/>
                <a:latin typeface="Consolas" panose="020B0609020204030204" pitchFamily="49" charset="0"/>
              </a:rPr>
              <a:t>NAME_OF_REPO</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NAME_OF_IMAGE</a:t>
            </a:r>
            <a:r>
              <a:rPr lang="en-US" sz="2000" b="0" dirty="0">
                <a:solidFill>
                  <a:srgbClr val="000000"/>
                </a:solidFill>
                <a:effectLst/>
                <a:latin typeface="Consolas" panose="020B0609020204030204" pitchFamily="49" charset="0"/>
              </a:rPr>
              <a:t>]:[</a:t>
            </a:r>
            <a:r>
              <a:rPr lang="en-US" sz="2000" b="0" dirty="0">
                <a:solidFill>
                  <a:srgbClr val="A31515"/>
                </a:solidFill>
                <a:effectLst/>
                <a:latin typeface="Consolas" panose="020B0609020204030204" pitchFamily="49" charset="0"/>
              </a:rPr>
              <a:t>TAG_VERSION</a:t>
            </a:r>
            <a:r>
              <a:rPr lang="en-US" sz="2000" b="0" dirty="0">
                <a:solidFill>
                  <a:srgbClr val="000000"/>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36484350-9B88-D64E-46C1-92DC29F47715}"/>
              </a:ext>
            </a:extLst>
          </p:cNvPr>
          <p:cNvPicPr>
            <a:picLocks noChangeAspect="1"/>
          </p:cNvPicPr>
          <p:nvPr/>
        </p:nvPicPr>
        <p:blipFill>
          <a:blip r:embed="rId3"/>
          <a:stretch>
            <a:fillRect/>
          </a:stretch>
        </p:blipFill>
        <p:spPr>
          <a:xfrm>
            <a:off x="9665771" y="286603"/>
            <a:ext cx="1428949" cy="1152686"/>
          </a:xfrm>
          <a:prstGeom prst="rect">
            <a:avLst/>
          </a:prstGeom>
        </p:spPr>
      </p:pic>
      <p:sp>
        <p:nvSpPr>
          <p:cNvPr id="9" name="Content Placeholder 2">
            <a:extLst>
              <a:ext uri="{FF2B5EF4-FFF2-40B4-BE49-F238E27FC236}">
                <a16:creationId xmlns:a16="http://schemas.microsoft.com/office/drawing/2014/main" id="{A0B384A6-4950-3246-3747-C1C3C7D28783}"/>
              </a:ext>
            </a:extLst>
          </p:cNvPr>
          <p:cNvSpPr txBox="1">
            <a:spLocks/>
          </p:cNvSpPr>
          <p:nvPr/>
        </p:nvSpPr>
        <p:spPr>
          <a:xfrm>
            <a:off x="1319944" y="3963735"/>
            <a:ext cx="9724031" cy="1033669"/>
          </a:xfrm>
          <a:prstGeom prst="rect">
            <a:avLst/>
          </a:prstGeom>
        </p:spPr>
        <p:txBody>
          <a:bodyPr anchor="ct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
            </a:pPr>
            <a:r>
              <a:rPr lang="en-US" dirty="0"/>
              <a:t> To share an image you’ve created: </a:t>
            </a:r>
            <a:endParaRPr lang="en-CA" dirty="0"/>
          </a:p>
        </p:txBody>
      </p:sp>
      <p:sp>
        <p:nvSpPr>
          <p:cNvPr id="10" name="TextBox 9">
            <a:extLst>
              <a:ext uri="{FF2B5EF4-FFF2-40B4-BE49-F238E27FC236}">
                <a16:creationId xmlns:a16="http://schemas.microsoft.com/office/drawing/2014/main" id="{4E2B9455-A074-3E71-2DD1-E1EAA8885F88}"/>
              </a:ext>
            </a:extLst>
          </p:cNvPr>
          <p:cNvSpPr txBox="1"/>
          <p:nvPr/>
        </p:nvSpPr>
        <p:spPr>
          <a:xfrm>
            <a:off x="1319944" y="4997404"/>
            <a:ext cx="9205289" cy="292965"/>
          </a:xfrm>
          <a:prstGeom prst="rect">
            <a:avLst/>
          </a:prstGeom>
          <a:noFill/>
        </p:spPr>
        <p:txBody>
          <a:bodyPr wrap="square">
            <a:spAutoFit/>
          </a:bodyPr>
          <a:lstStyle/>
          <a:p>
            <a:pPr>
              <a:lnSpc>
                <a:spcPts val="1425"/>
              </a:lnSpc>
              <a:buNone/>
            </a:pPr>
            <a:r>
              <a:rPr lang="en-US" sz="2000" b="0" dirty="0">
                <a:solidFill>
                  <a:srgbClr val="000000"/>
                </a:solidFill>
                <a:effectLst/>
                <a:latin typeface="Consolas" panose="020B0609020204030204" pitchFamily="49" charset="0"/>
              </a:rPr>
              <a:t>docker pu</a:t>
            </a:r>
            <a:r>
              <a:rPr lang="en-US" sz="2000" dirty="0">
                <a:solidFill>
                  <a:srgbClr val="000000"/>
                </a:solidFill>
                <a:latin typeface="Consolas" panose="020B0609020204030204" pitchFamily="49" charset="0"/>
              </a:rPr>
              <a:t>sh [</a:t>
            </a:r>
            <a:r>
              <a:rPr lang="en-US" sz="2000" dirty="0">
                <a:solidFill>
                  <a:srgbClr val="A31515"/>
                </a:solidFill>
                <a:latin typeface="Consolas" panose="020B0609020204030204" pitchFamily="49" charset="0"/>
              </a:rPr>
              <a:t>YOUR_DOCKER_USERNAME</a:t>
            </a:r>
            <a:r>
              <a:rPr lang="en-US" sz="2000" dirty="0">
                <a:solidFill>
                  <a:srgbClr val="000000"/>
                </a:solidFill>
                <a:latin typeface="Consolas" panose="020B0609020204030204" pitchFamily="49" charset="0"/>
              </a:rPr>
              <a:t>]/[</a:t>
            </a:r>
            <a:r>
              <a:rPr lang="en-US" sz="2000" dirty="0">
                <a:solidFill>
                  <a:srgbClr val="A31515"/>
                </a:solidFill>
                <a:latin typeface="Consolas" panose="020B0609020204030204" pitchFamily="49" charset="0"/>
              </a:rPr>
              <a:t>NAME_OF_IMAGE</a:t>
            </a:r>
            <a:r>
              <a:rPr lang="en-US" sz="2000" dirty="0">
                <a:solidFill>
                  <a:srgbClr val="000000"/>
                </a:solidFill>
                <a:latin typeface="Consolas" panose="020B0609020204030204" pitchFamily="49" charset="0"/>
              </a:rPr>
              <a:t>]:[</a:t>
            </a:r>
            <a:r>
              <a:rPr lang="en-US" sz="2000" dirty="0">
                <a:solidFill>
                  <a:srgbClr val="A31515"/>
                </a:solidFill>
                <a:latin typeface="Consolas" panose="020B0609020204030204" pitchFamily="49" charset="0"/>
              </a:rPr>
              <a:t>TAG_VERSION</a:t>
            </a:r>
            <a:r>
              <a:rPr lang="en-US" sz="2000" dirty="0">
                <a:solidFill>
                  <a:srgbClr val="000000"/>
                </a:solidFill>
                <a:latin typeface="Consolas" panose="020B0609020204030204" pitchFamily="49" charset="0"/>
              </a:rPr>
              <a:t>]</a:t>
            </a:r>
            <a:r>
              <a:rPr lang="en-US" sz="2000" b="0" dirty="0">
                <a:solidFill>
                  <a:srgbClr val="000000"/>
                </a:solidFill>
                <a:effectLst/>
                <a:latin typeface="Consolas" panose="020B0609020204030204" pitchFamily="49" charset="0"/>
              </a:rPr>
              <a:t> </a:t>
            </a:r>
          </a:p>
        </p:txBody>
      </p:sp>
    </p:spTree>
    <p:extLst>
      <p:ext uri="{BB962C8B-B14F-4D97-AF65-F5344CB8AC3E}">
        <p14:creationId xmlns:p14="http://schemas.microsoft.com/office/powerpoint/2010/main" val="2136986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3BBAF-1010-9340-B55C-1ABE1F24758D}"/>
              </a:ext>
            </a:extLst>
          </p:cNvPr>
          <p:cNvSpPr>
            <a:spLocks noGrp="1"/>
          </p:cNvSpPr>
          <p:nvPr>
            <p:ph type="title"/>
          </p:nvPr>
        </p:nvSpPr>
        <p:spPr>
          <a:xfrm>
            <a:off x="1285638" y="497738"/>
            <a:ext cx="9895951" cy="1033669"/>
          </a:xfrm>
        </p:spPr>
        <p:txBody>
          <a:bodyPr>
            <a:normAutofit/>
          </a:bodyPr>
          <a:lstStyle/>
          <a:p>
            <a:r>
              <a:rPr lang="en-US" sz="6000" dirty="0">
                <a:solidFill>
                  <a:schemeClr val="tx1"/>
                </a:solidFill>
              </a:rPr>
              <a:t>Running a Docker Container</a:t>
            </a:r>
            <a:endParaRPr lang="en-CA" sz="6000" dirty="0">
              <a:solidFill>
                <a:schemeClr val="tx1"/>
              </a:solidFill>
            </a:endParaRPr>
          </a:p>
        </p:txBody>
      </p:sp>
      <p:sp>
        <p:nvSpPr>
          <p:cNvPr id="3" name="Content Placeholder 2">
            <a:extLst>
              <a:ext uri="{FF2B5EF4-FFF2-40B4-BE49-F238E27FC236}">
                <a16:creationId xmlns:a16="http://schemas.microsoft.com/office/drawing/2014/main" id="{5F23B24B-F079-ABC1-B52A-39E24B6A8E7D}"/>
              </a:ext>
            </a:extLst>
          </p:cNvPr>
          <p:cNvSpPr>
            <a:spLocks noGrp="1"/>
          </p:cNvSpPr>
          <p:nvPr>
            <p:ph idx="1"/>
          </p:nvPr>
        </p:nvSpPr>
        <p:spPr>
          <a:xfrm>
            <a:off x="1285638" y="2064197"/>
            <a:ext cx="9724031" cy="536763"/>
          </a:xfrm>
        </p:spPr>
        <p:txBody>
          <a:bodyPr anchor="ctr">
            <a:normAutofit/>
          </a:bodyPr>
          <a:lstStyle/>
          <a:p>
            <a:pPr>
              <a:buFont typeface="Wingdings" panose="05000000000000000000" pitchFamily="2" charset="2"/>
              <a:buChar char="§"/>
            </a:pPr>
            <a:r>
              <a:rPr lang="en-CA" dirty="0"/>
              <a:t> Use this command: </a:t>
            </a:r>
            <a:endParaRPr lang="en-CA" sz="2000" dirty="0"/>
          </a:p>
        </p:txBody>
      </p:sp>
      <p:sp>
        <p:nvSpPr>
          <p:cNvPr id="5" name="TextBox 4">
            <a:extLst>
              <a:ext uri="{FF2B5EF4-FFF2-40B4-BE49-F238E27FC236}">
                <a16:creationId xmlns:a16="http://schemas.microsoft.com/office/drawing/2014/main" id="{432F7C40-D3E4-C2B1-B647-8FE9F8D1064D}"/>
              </a:ext>
            </a:extLst>
          </p:cNvPr>
          <p:cNvSpPr txBox="1"/>
          <p:nvPr/>
        </p:nvSpPr>
        <p:spPr>
          <a:xfrm>
            <a:off x="2245360" y="3133750"/>
            <a:ext cx="8077200" cy="1925271"/>
          </a:xfrm>
          <a:prstGeom prst="rect">
            <a:avLst/>
          </a:prstGeom>
          <a:noFill/>
        </p:spPr>
        <p:txBody>
          <a:bodyPr wrap="square">
            <a:spAutoFit/>
          </a:bodyPr>
          <a:lstStyle/>
          <a:p>
            <a:pPr>
              <a:lnSpc>
                <a:spcPts val="1425"/>
              </a:lnSpc>
              <a:buNone/>
            </a:pPr>
            <a:r>
              <a:rPr lang="en-US" sz="2500" b="0" dirty="0">
                <a:solidFill>
                  <a:srgbClr val="000000"/>
                </a:solidFill>
                <a:effectLst/>
                <a:latin typeface="Consolas" panose="020B0609020204030204" pitchFamily="49" charset="0"/>
              </a:rPr>
              <a:t>    docker run --rm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-v </a:t>
            </a:r>
            <a:r>
              <a:rPr lang="en-US" sz="2500" b="0" dirty="0">
                <a:solidFill>
                  <a:srgbClr val="0000FF"/>
                </a:solidFill>
                <a:effectLst/>
                <a:latin typeface="Consolas" panose="020B0609020204030204" pitchFamily="49" charset="0"/>
              </a:rPr>
              <a:t>$$</a:t>
            </a:r>
            <a:r>
              <a:rPr lang="en-US" sz="2500" b="0" dirty="0">
                <a:solidFill>
                  <a:srgbClr val="000000"/>
                </a:solidFill>
                <a:effectLst/>
                <a:latin typeface="Consolas" panose="020B0609020204030204" pitchFamily="49" charset="0"/>
              </a:rPr>
              <a:t>(</a:t>
            </a:r>
            <a:r>
              <a:rPr lang="en-US" sz="2500" b="0" dirty="0" err="1">
                <a:solidFill>
                  <a:srgbClr val="000000"/>
                </a:solidFill>
                <a:effectLst/>
                <a:latin typeface="Consolas" panose="020B0609020204030204" pitchFamily="49" charset="0"/>
              </a:rPr>
              <a:t>pwd</a:t>
            </a:r>
            <a:r>
              <a:rPr lang="en-US" sz="2500" b="0" dirty="0">
                <a:solidFill>
                  <a:srgbClr val="000000"/>
                </a:solidFill>
                <a:effectLst/>
                <a:latin typeface="Consolas" panose="020B0609020204030204" pitchFamily="49" charset="0"/>
              </a:rPr>
              <a:t>):/[CONTAINER_PATH]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[DOCKER_IMAGE_TO_RUN]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a:t>
            </a:r>
            <a:r>
              <a:rPr lang="en-US" sz="2500" b="0" dirty="0" err="1">
                <a:solidFill>
                  <a:srgbClr val="000000"/>
                </a:solidFill>
                <a:effectLst/>
                <a:latin typeface="Consolas" panose="020B0609020204030204" pitchFamily="49" charset="0"/>
              </a:rPr>
              <a:t>sh</a:t>
            </a:r>
            <a:r>
              <a:rPr lang="en-US" sz="2500" b="0" dirty="0">
                <a:solidFill>
                  <a:srgbClr val="000000"/>
                </a:solidFill>
                <a:effectLst/>
                <a:latin typeface="Consolas" panose="020B0609020204030204" pitchFamily="49" charset="0"/>
              </a:rPr>
              <a:t> -c "</a:t>
            </a:r>
            <a:r>
              <a:rPr lang="en-US" sz="2500" b="0" dirty="0" err="1">
                <a:solidFill>
                  <a:srgbClr val="000000"/>
                </a:solidFill>
                <a:effectLst/>
                <a:latin typeface="Consolas" panose="020B0609020204030204" pitchFamily="49" charset="0"/>
              </a:rPr>
              <a:t>Rscript</a:t>
            </a:r>
            <a:r>
              <a:rPr lang="en-US" sz="2500" b="0" dirty="0">
                <a:solidFill>
                  <a:srgbClr val="000000"/>
                </a:solidFill>
                <a:effectLst/>
                <a:latin typeface="Consolas" panose="020B0609020204030204" pitchFamily="49" charset="0"/>
              </a:rPr>
              <a:t> [RSCRIPT_TO_RUN_PATH]"</a:t>
            </a:r>
          </a:p>
        </p:txBody>
      </p:sp>
      <p:pic>
        <p:nvPicPr>
          <p:cNvPr id="7" name="Picture 6">
            <a:extLst>
              <a:ext uri="{FF2B5EF4-FFF2-40B4-BE49-F238E27FC236}">
                <a16:creationId xmlns:a16="http://schemas.microsoft.com/office/drawing/2014/main" id="{6695857F-004B-94EE-76EF-68CA9632FB10}"/>
              </a:ext>
            </a:extLst>
          </p:cNvPr>
          <p:cNvPicPr>
            <a:picLocks noChangeAspect="1"/>
          </p:cNvPicPr>
          <p:nvPr/>
        </p:nvPicPr>
        <p:blipFill>
          <a:blip r:embed="rId3"/>
          <a:stretch>
            <a:fillRect/>
          </a:stretch>
        </p:blipFill>
        <p:spPr>
          <a:xfrm>
            <a:off x="10328475" y="156869"/>
            <a:ext cx="1155773" cy="1474391"/>
          </a:xfrm>
          <a:prstGeom prst="rect">
            <a:avLst/>
          </a:prstGeom>
        </p:spPr>
      </p:pic>
      <p:sp>
        <p:nvSpPr>
          <p:cNvPr id="9" name="Rectangle 8">
            <a:extLst>
              <a:ext uri="{FF2B5EF4-FFF2-40B4-BE49-F238E27FC236}">
                <a16:creationId xmlns:a16="http://schemas.microsoft.com/office/drawing/2014/main" id="{DFDE32DF-BF93-6215-7005-BA5585B32C3B}"/>
              </a:ext>
            </a:extLst>
          </p:cNvPr>
          <p:cNvSpPr/>
          <p:nvPr/>
        </p:nvSpPr>
        <p:spPr>
          <a:xfrm>
            <a:off x="3691412" y="3572535"/>
            <a:ext cx="504668" cy="42034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1" name="Arrow: Right 10">
            <a:extLst>
              <a:ext uri="{FF2B5EF4-FFF2-40B4-BE49-F238E27FC236}">
                <a16:creationId xmlns:a16="http://schemas.microsoft.com/office/drawing/2014/main" id="{20600120-63E6-9372-00EA-DC239F9284DF}"/>
              </a:ext>
            </a:extLst>
          </p:cNvPr>
          <p:cNvSpPr/>
          <p:nvPr/>
        </p:nvSpPr>
        <p:spPr>
          <a:xfrm rot="18403541">
            <a:off x="2788030" y="4301636"/>
            <a:ext cx="863361" cy="1852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3" name="TextBox 12">
            <a:extLst>
              <a:ext uri="{FF2B5EF4-FFF2-40B4-BE49-F238E27FC236}">
                <a16:creationId xmlns:a16="http://schemas.microsoft.com/office/drawing/2014/main" id="{3EFACD8F-1E56-E979-4215-0124A2E91BBD}"/>
              </a:ext>
            </a:extLst>
          </p:cNvPr>
          <p:cNvSpPr txBox="1"/>
          <p:nvPr/>
        </p:nvSpPr>
        <p:spPr>
          <a:xfrm>
            <a:off x="1312214" y="4795659"/>
            <a:ext cx="2011680" cy="923330"/>
          </a:xfrm>
          <a:prstGeom prst="rect">
            <a:avLst/>
          </a:prstGeom>
          <a:noFill/>
        </p:spPr>
        <p:txBody>
          <a:bodyPr wrap="square" rtlCol="0">
            <a:spAutoFit/>
          </a:bodyPr>
          <a:lstStyle/>
          <a:p>
            <a:r>
              <a:rPr lang="en-US" dirty="0">
                <a:solidFill>
                  <a:srgbClr val="FF0000"/>
                </a:solidFill>
              </a:rPr>
              <a:t>Give container access to files in directory</a:t>
            </a:r>
            <a:endParaRPr lang="en-CA" dirty="0">
              <a:solidFill>
                <a:srgbClr val="FF0000"/>
              </a:solidFill>
            </a:endParaRPr>
          </a:p>
        </p:txBody>
      </p:sp>
      <p:sp>
        <p:nvSpPr>
          <p:cNvPr id="15" name="Rectangle 14">
            <a:extLst>
              <a:ext uri="{FF2B5EF4-FFF2-40B4-BE49-F238E27FC236}">
                <a16:creationId xmlns:a16="http://schemas.microsoft.com/office/drawing/2014/main" id="{5271721A-F556-34CA-FFF5-50A5BCE5CFC3}"/>
              </a:ext>
            </a:extLst>
          </p:cNvPr>
          <p:cNvSpPr/>
          <p:nvPr/>
        </p:nvSpPr>
        <p:spPr>
          <a:xfrm>
            <a:off x="4194061" y="3572534"/>
            <a:ext cx="1272018" cy="42034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7" name="Arrow: Right 16">
            <a:extLst>
              <a:ext uri="{FF2B5EF4-FFF2-40B4-BE49-F238E27FC236}">
                <a16:creationId xmlns:a16="http://schemas.microsoft.com/office/drawing/2014/main" id="{A51B7F9A-41B1-2887-8067-6387CE0D6C09}"/>
              </a:ext>
            </a:extLst>
          </p:cNvPr>
          <p:cNvSpPr/>
          <p:nvPr/>
        </p:nvSpPr>
        <p:spPr>
          <a:xfrm rot="8776939">
            <a:off x="5522674" y="3163222"/>
            <a:ext cx="863361" cy="1852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8" name="TextBox 17">
            <a:extLst>
              <a:ext uri="{FF2B5EF4-FFF2-40B4-BE49-F238E27FC236}">
                <a16:creationId xmlns:a16="http://schemas.microsoft.com/office/drawing/2014/main" id="{2E731A23-4903-4A16-BEB3-6D62A23581D0}"/>
              </a:ext>
            </a:extLst>
          </p:cNvPr>
          <p:cNvSpPr txBox="1"/>
          <p:nvPr/>
        </p:nvSpPr>
        <p:spPr>
          <a:xfrm>
            <a:off x="6283960" y="2664565"/>
            <a:ext cx="3581799" cy="369332"/>
          </a:xfrm>
          <a:prstGeom prst="rect">
            <a:avLst/>
          </a:prstGeom>
          <a:noFill/>
        </p:spPr>
        <p:txBody>
          <a:bodyPr wrap="square" rtlCol="0">
            <a:spAutoFit/>
          </a:bodyPr>
          <a:lstStyle/>
          <a:p>
            <a:r>
              <a:rPr lang="en-US" dirty="0">
                <a:solidFill>
                  <a:srgbClr val="FF0000"/>
                </a:solidFill>
              </a:rPr>
              <a:t>Location of directory to give access</a:t>
            </a:r>
            <a:endParaRPr lang="en-CA" dirty="0">
              <a:solidFill>
                <a:srgbClr val="FF0000"/>
              </a:solidFill>
            </a:endParaRPr>
          </a:p>
        </p:txBody>
      </p:sp>
      <p:sp>
        <p:nvSpPr>
          <p:cNvPr id="19" name="Rectangle 18">
            <a:extLst>
              <a:ext uri="{FF2B5EF4-FFF2-40B4-BE49-F238E27FC236}">
                <a16:creationId xmlns:a16="http://schemas.microsoft.com/office/drawing/2014/main" id="{70DE5B2F-366A-5A83-578C-9200E2AAB324}"/>
              </a:ext>
            </a:extLst>
          </p:cNvPr>
          <p:cNvSpPr/>
          <p:nvPr/>
        </p:nvSpPr>
        <p:spPr>
          <a:xfrm>
            <a:off x="5806620" y="3556933"/>
            <a:ext cx="2870019" cy="42034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0" name="Arrow: Right 19">
            <a:extLst>
              <a:ext uri="{FF2B5EF4-FFF2-40B4-BE49-F238E27FC236}">
                <a16:creationId xmlns:a16="http://schemas.microsoft.com/office/drawing/2014/main" id="{60410FD1-CC77-76C4-4C4E-620903A07EB6}"/>
              </a:ext>
            </a:extLst>
          </p:cNvPr>
          <p:cNvSpPr/>
          <p:nvPr/>
        </p:nvSpPr>
        <p:spPr>
          <a:xfrm rot="12031183">
            <a:off x="8786109" y="3845152"/>
            <a:ext cx="306563" cy="152423"/>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1" name="TextBox 20">
            <a:extLst>
              <a:ext uri="{FF2B5EF4-FFF2-40B4-BE49-F238E27FC236}">
                <a16:creationId xmlns:a16="http://schemas.microsoft.com/office/drawing/2014/main" id="{C7D297B3-0590-54E6-3FEC-1A0A9CBA3D9B}"/>
              </a:ext>
            </a:extLst>
          </p:cNvPr>
          <p:cNvSpPr txBox="1"/>
          <p:nvPr/>
        </p:nvSpPr>
        <p:spPr>
          <a:xfrm>
            <a:off x="8531660" y="3944870"/>
            <a:ext cx="3581799" cy="646331"/>
          </a:xfrm>
          <a:prstGeom prst="rect">
            <a:avLst/>
          </a:prstGeom>
          <a:noFill/>
        </p:spPr>
        <p:txBody>
          <a:bodyPr wrap="square" rtlCol="0">
            <a:spAutoFit/>
          </a:bodyPr>
          <a:lstStyle/>
          <a:p>
            <a:r>
              <a:rPr lang="en-US" dirty="0">
                <a:solidFill>
                  <a:srgbClr val="FF0000"/>
                </a:solidFill>
              </a:rPr>
              <a:t>Location of directory files/folders within container</a:t>
            </a:r>
            <a:endParaRPr lang="en-CA" dirty="0">
              <a:solidFill>
                <a:srgbClr val="FF0000"/>
              </a:solidFill>
            </a:endParaRPr>
          </a:p>
        </p:txBody>
      </p:sp>
      <p:sp>
        <p:nvSpPr>
          <p:cNvPr id="22" name="Rectangle 21">
            <a:extLst>
              <a:ext uri="{FF2B5EF4-FFF2-40B4-BE49-F238E27FC236}">
                <a16:creationId xmlns:a16="http://schemas.microsoft.com/office/drawing/2014/main" id="{40F84CBF-0A1B-5983-DE0E-E851C6C5900C}"/>
              </a:ext>
            </a:extLst>
          </p:cNvPr>
          <p:cNvSpPr/>
          <p:nvPr/>
        </p:nvSpPr>
        <p:spPr>
          <a:xfrm>
            <a:off x="4868965" y="3024143"/>
            <a:ext cx="820973" cy="42034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3" name="Arrow: Right 22">
            <a:extLst>
              <a:ext uri="{FF2B5EF4-FFF2-40B4-BE49-F238E27FC236}">
                <a16:creationId xmlns:a16="http://schemas.microsoft.com/office/drawing/2014/main" id="{3AA637BB-F3C0-C1B5-3788-CA40374AD1E4}"/>
              </a:ext>
            </a:extLst>
          </p:cNvPr>
          <p:cNvSpPr/>
          <p:nvPr/>
        </p:nvSpPr>
        <p:spPr>
          <a:xfrm rot="8776939">
            <a:off x="5107108" y="2536121"/>
            <a:ext cx="863361" cy="1852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4" name="TextBox 23">
            <a:extLst>
              <a:ext uri="{FF2B5EF4-FFF2-40B4-BE49-F238E27FC236}">
                <a16:creationId xmlns:a16="http://schemas.microsoft.com/office/drawing/2014/main" id="{E13AD316-FA13-4F98-FD3B-42AFB89F3EC6}"/>
              </a:ext>
            </a:extLst>
          </p:cNvPr>
          <p:cNvSpPr txBox="1"/>
          <p:nvPr/>
        </p:nvSpPr>
        <p:spPr>
          <a:xfrm>
            <a:off x="5949275" y="2116033"/>
            <a:ext cx="3581799" cy="369332"/>
          </a:xfrm>
          <a:prstGeom prst="rect">
            <a:avLst/>
          </a:prstGeom>
          <a:noFill/>
        </p:spPr>
        <p:txBody>
          <a:bodyPr wrap="square" rtlCol="0">
            <a:spAutoFit/>
          </a:bodyPr>
          <a:lstStyle/>
          <a:p>
            <a:r>
              <a:rPr lang="en-US" dirty="0">
                <a:solidFill>
                  <a:srgbClr val="FF0000"/>
                </a:solidFill>
              </a:rPr>
              <a:t>Delete Container when done task</a:t>
            </a:r>
            <a:endParaRPr lang="en-CA" dirty="0">
              <a:solidFill>
                <a:srgbClr val="FF0000"/>
              </a:solidFill>
            </a:endParaRPr>
          </a:p>
        </p:txBody>
      </p:sp>
      <p:sp>
        <p:nvSpPr>
          <p:cNvPr id="25" name="Rectangle 24">
            <a:extLst>
              <a:ext uri="{FF2B5EF4-FFF2-40B4-BE49-F238E27FC236}">
                <a16:creationId xmlns:a16="http://schemas.microsoft.com/office/drawing/2014/main" id="{3253D11C-0B4A-3D39-CCFE-6698C0079CD8}"/>
              </a:ext>
            </a:extLst>
          </p:cNvPr>
          <p:cNvSpPr/>
          <p:nvPr/>
        </p:nvSpPr>
        <p:spPr>
          <a:xfrm>
            <a:off x="3552096" y="4638676"/>
            <a:ext cx="6658704" cy="42034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6" name="Arrow: Right 25">
            <a:extLst>
              <a:ext uri="{FF2B5EF4-FFF2-40B4-BE49-F238E27FC236}">
                <a16:creationId xmlns:a16="http://schemas.microsoft.com/office/drawing/2014/main" id="{4473D135-7CCC-2937-F111-77D16A723B12}"/>
              </a:ext>
            </a:extLst>
          </p:cNvPr>
          <p:cNvSpPr/>
          <p:nvPr/>
        </p:nvSpPr>
        <p:spPr>
          <a:xfrm rot="12885373">
            <a:off x="5852279" y="5336064"/>
            <a:ext cx="863361" cy="185268"/>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7" name="TextBox 26">
            <a:extLst>
              <a:ext uri="{FF2B5EF4-FFF2-40B4-BE49-F238E27FC236}">
                <a16:creationId xmlns:a16="http://schemas.microsoft.com/office/drawing/2014/main" id="{50B241F3-78BD-E859-9D30-334A563BAA17}"/>
              </a:ext>
            </a:extLst>
          </p:cNvPr>
          <p:cNvSpPr txBox="1"/>
          <p:nvPr/>
        </p:nvSpPr>
        <p:spPr>
          <a:xfrm>
            <a:off x="6691432" y="5534323"/>
            <a:ext cx="3581799" cy="369332"/>
          </a:xfrm>
          <a:prstGeom prst="rect">
            <a:avLst/>
          </a:prstGeom>
          <a:noFill/>
        </p:spPr>
        <p:txBody>
          <a:bodyPr wrap="square" rtlCol="0">
            <a:spAutoFit/>
          </a:bodyPr>
          <a:lstStyle/>
          <a:p>
            <a:r>
              <a:rPr lang="en-US" dirty="0">
                <a:solidFill>
                  <a:srgbClr val="FF0000"/>
                </a:solidFill>
              </a:rPr>
              <a:t>Task to run in container</a:t>
            </a:r>
            <a:endParaRPr lang="en-CA" dirty="0">
              <a:solidFill>
                <a:srgbClr val="FF0000"/>
              </a:solidFill>
            </a:endParaRPr>
          </a:p>
        </p:txBody>
      </p:sp>
    </p:spTree>
    <p:extLst>
      <p:ext uri="{BB962C8B-B14F-4D97-AF65-F5344CB8AC3E}">
        <p14:creationId xmlns:p14="http://schemas.microsoft.com/office/powerpoint/2010/main" val="1519331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22"/>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23"/>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24"/>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xit" presetSubtype="0" fill="hold" grpId="1" nodeType="withEffect">
                                  <p:stCondLst>
                                    <p:cond delay="0"/>
                                  </p:stCondLst>
                                  <p:childTnLst>
                                    <p:set>
                                      <p:cBhvr>
                                        <p:cTn id="50" dur="1" fill="hold">
                                          <p:stCondLst>
                                            <p:cond delay="0"/>
                                          </p:stCondLst>
                                        </p:cTn>
                                        <p:tgtEl>
                                          <p:spTgt spid="9"/>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1"/>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3"/>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15"/>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7"/>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18"/>
                                        </p:tgtEl>
                                        <p:attrNameLst>
                                          <p:attrName>style.visibility</p:attrName>
                                        </p:attrNameLst>
                                      </p:cBhvr>
                                      <p:to>
                                        <p:strVal val="hidden"/>
                                      </p:to>
                                    </p:set>
                                  </p:childTnLst>
                                </p:cTn>
                              </p:par>
                              <p:par>
                                <p:cTn id="61" presetID="1" presetClass="exit" presetSubtype="0" fill="hold" grpId="1" nodeType="withEffect">
                                  <p:stCondLst>
                                    <p:cond delay="0"/>
                                  </p:stCondLst>
                                  <p:childTnLst>
                                    <p:set>
                                      <p:cBhvr>
                                        <p:cTn id="62" dur="1" fill="hold">
                                          <p:stCondLst>
                                            <p:cond delay="0"/>
                                          </p:stCondLst>
                                        </p:cTn>
                                        <p:tgtEl>
                                          <p:spTgt spid="19"/>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20"/>
                                        </p:tgtEl>
                                        <p:attrNameLst>
                                          <p:attrName>style.visibility</p:attrName>
                                        </p:attrNameLst>
                                      </p:cBhvr>
                                      <p:to>
                                        <p:strVal val="hidden"/>
                                      </p:to>
                                    </p:set>
                                  </p:childTnLst>
                                </p:cTn>
                              </p:par>
                              <p:par>
                                <p:cTn id="65" presetID="1" presetClass="exit" presetSubtype="0" fill="hold" grpId="1" nodeType="withEffect">
                                  <p:stCondLst>
                                    <p:cond delay="0"/>
                                  </p:stCondLst>
                                  <p:childTnLst>
                                    <p:set>
                                      <p:cBhvr>
                                        <p:cTn id="66"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1" grpId="0" animBg="1"/>
      <p:bldP spid="11" grpId="1" animBg="1"/>
      <p:bldP spid="13" grpId="0"/>
      <p:bldP spid="13" grpId="1"/>
      <p:bldP spid="15" grpId="0" animBg="1"/>
      <p:bldP spid="15" grpId="1" animBg="1"/>
      <p:bldP spid="17" grpId="0" animBg="1"/>
      <p:bldP spid="17" grpId="1" animBg="1"/>
      <p:bldP spid="18" grpId="0"/>
      <p:bldP spid="18" grpId="1"/>
      <p:bldP spid="19" grpId="0" animBg="1"/>
      <p:bldP spid="19" grpId="1" animBg="1"/>
      <p:bldP spid="20" grpId="0" animBg="1"/>
      <p:bldP spid="20" grpId="1" animBg="1"/>
      <p:bldP spid="21" grpId="0"/>
      <p:bldP spid="21" grpId="1"/>
      <p:bldP spid="22" grpId="0" animBg="1"/>
      <p:bldP spid="22" grpId="1" animBg="1"/>
      <p:bldP spid="23" grpId="0" animBg="1"/>
      <p:bldP spid="23" grpId="1" animBg="1"/>
      <p:bldP spid="24" grpId="0"/>
      <p:bldP spid="24" grpId="1"/>
      <p:bldP spid="25" grpId="0" animBg="1"/>
      <p:bldP spid="26" grpId="0" animBg="1"/>
      <p:bldP spid="2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23469-6CAE-3155-E1BC-F3DBE388F284}"/>
              </a:ext>
            </a:extLst>
          </p:cNvPr>
          <p:cNvSpPr>
            <a:spLocks noGrp="1"/>
          </p:cNvSpPr>
          <p:nvPr>
            <p:ph type="title"/>
          </p:nvPr>
        </p:nvSpPr>
        <p:spPr/>
        <p:txBody>
          <a:bodyPr>
            <a:normAutofit/>
          </a:bodyPr>
          <a:lstStyle/>
          <a:p>
            <a:r>
              <a:rPr lang="en-CA" sz="6000" dirty="0"/>
              <a:t>Run </a:t>
            </a:r>
            <a:r>
              <a:rPr lang="en-CA" sz="6000" dirty="0" err="1"/>
              <a:t>Rstudio</a:t>
            </a:r>
            <a:r>
              <a:rPr lang="en-CA" sz="6000" dirty="0"/>
              <a:t> with Docker</a:t>
            </a:r>
          </a:p>
        </p:txBody>
      </p:sp>
      <p:sp>
        <p:nvSpPr>
          <p:cNvPr id="4" name="Content Placeholder 2">
            <a:extLst>
              <a:ext uri="{FF2B5EF4-FFF2-40B4-BE49-F238E27FC236}">
                <a16:creationId xmlns:a16="http://schemas.microsoft.com/office/drawing/2014/main" id="{786BED58-82CF-590F-0F77-2B5ED5A7F351}"/>
              </a:ext>
            </a:extLst>
          </p:cNvPr>
          <p:cNvSpPr>
            <a:spLocks noGrp="1"/>
          </p:cNvSpPr>
          <p:nvPr>
            <p:ph idx="1"/>
          </p:nvPr>
        </p:nvSpPr>
        <p:spPr>
          <a:xfrm>
            <a:off x="1233984" y="1891477"/>
            <a:ext cx="9724031" cy="536763"/>
          </a:xfrm>
        </p:spPr>
        <p:txBody>
          <a:bodyPr anchor="ctr">
            <a:normAutofit/>
          </a:bodyPr>
          <a:lstStyle/>
          <a:p>
            <a:pPr>
              <a:buFont typeface="Wingdings" panose="05000000000000000000" pitchFamily="2" charset="2"/>
              <a:buChar char="§"/>
            </a:pPr>
            <a:r>
              <a:rPr lang="en-CA" dirty="0"/>
              <a:t> Use this command: </a:t>
            </a:r>
            <a:endParaRPr lang="en-CA" sz="2000" dirty="0"/>
          </a:p>
        </p:txBody>
      </p:sp>
      <p:sp>
        <p:nvSpPr>
          <p:cNvPr id="6" name="TextBox 5">
            <a:extLst>
              <a:ext uri="{FF2B5EF4-FFF2-40B4-BE49-F238E27FC236}">
                <a16:creationId xmlns:a16="http://schemas.microsoft.com/office/drawing/2014/main" id="{EF039F4A-706F-FDB7-E5E8-83378D5A7B49}"/>
              </a:ext>
            </a:extLst>
          </p:cNvPr>
          <p:cNvSpPr txBox="1"/>
          <p:nvPr/>
        </p:nvSpPr>
        <p:spPr>
          <a:xfrm>
            <a:off x="2547389" y="2572197"/>
            <a:ext cx="7158182" cy="3541098"/>
          </a:xfrm>
          <a:prstGeom prst="rect">
            <a:avLst/>
          </a:prstGeom>
          <a:noFill/>
        </p:spPr>
        <p:txBody>
          <a:bodyPr wrap="square">
            <a:spAutoFit/>
          </a:bodyPr>
          <a:lstStyle/>
          <a:p>
            <a:pPr>
              <a:lnSpc>
                <a:spcPts val="1425"/>
              </a:lnSpc>
              <a:buNone/>
            </a:pPr>
            <a:r>
              <a:rPr lang="en-US" sz="2500" b="0" dirty="0">
                <a:solidFill>
                  <a:srgbClr val="000000"/>
                </a:solidFill>
                <a:effectLst/>
                <a:latin typeface="Consolas" panose="020B0609020204030204" pitchFamily="49" charset="0"/>
              </a:rPr>
              <a:t>    docker run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-p 8787:8787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-v </a:t>
            </a:r>
            <a:r>
              <a:rPr lang="en-US" sz="2500" b="0" dirty="0">
                <a:solidFill>
                  <a:srgbClr val="0000FF"/>
                </a:solidFill>
                <a:effectLst/>
                <a:latin typeface="Consolas" panose="020B0609020204030204" pitchFamily="49" charset="0"/>
              </a:rPr>
              <a:t>$$</a:t>
            </a:r>
            <a:r>
              <a:rPr lang="en-US" sz="2500" b="0" dirty="0">
                <a:solidFill>
                  <a:srgbClr val="000000"/>
                </a:solidFill>
                <a:effectLst/>
                <a:latin typeface="Consolas" panose="020B0609020204030204" pitchFamily="49" charset="0"/>
              </a:rPr>
              <a:t>(</a:t>
            </a:r>
            <a:r>
              <a:rPr lang="en-US" sz="2500" b="0" dirty="0" err="1">
                <a:solidFill>
                  <a:srgbClr val="000000"/>
                </a:solidFill>
                <a:effectLst/>
                <a:latin typeface="Consolas" panose="020B0609020204030204" pitchFamily="49" charset="0"/>
              </a:rPr>
              <a:t>pwd</a:t>
            </a:r>
            <a:r>
              <a:rPr lang="en-US" sz="2500" b="0" dirty="0">
                <a:solidFill>
                  <a:srgbClr val="000000"/>
                </a:solidFill>
                <a:effectLst/>
                <a:latin typeface="Consolas" panose="020B0609020204030204" pitchFamily="49" charset="0"/>
              </a:rPr>
              <a:t>):/[CONTAINER_PATH]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-e USER=[YOUR_USERNAME]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-e PASSWORD=[YOUR_PASSWORD]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--name [YOUR_CONTAINER_NAME] \</a:t>
            </a: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endParaRPr lang="en-US" sz="2500" b="0" dirty="0">
              <a:solidFill>
                <a:srgbClr val="000000"/>
              </a:solidFill>
              <a:effectLst/>
              <a:latin typeface="Consolas" panose="020B0609020204030204" pitchFamily="49" charset="0"/>
            </a:endParaRPr>
          </a:p>
          <a:p>
            <a:pPr>
              <a:lnSpc>
                <a:spcPts val="1425"/>
              </a:lnSpc>
              <a:buNone/>
            </a:pPr>
            <a:r>
              <a:rPr lang="en-US" sz="2500" b="0" dirty="0">
                <a:solidFill>
                  <a:srgbClr val="000000"/>
                </a:solidFill>
                <a:effectLst/>
                <a:latin typeface="Consolas" panose="020B0609020204030204" pitchFamily="49" charset="0"/>
              </a:rPr>
              <a:t>        [YOUR_IMAGE_NAME]</a:t>
            </a:r>
          </a:p>
        </p:txBody>
      </p:sp>
      <p:sp>
        <p:nvSpPr>
          <p:cNvPr id="7" name="Rectangle 6">
            <a:extLst>
              <a:ext uri="{FF2B5EF4-FFF2-40B4-BE49-F238E27FC236}">
                <a16:creationId xmlns:a16="http://schemas.microsoft.com/office/drawing/2014/main" id="{64163081-6F93-D378-4B56-7BA19121761F}"/>
              </a:ext>
            </a:extLst>
          </p:cNvPr>
          <p:cNvSpPr/>
          <p:nvPr/>
        </p:nvSpPr>
        <p:spPr>
          <a:xfrm>
            <a:off x="4001547" y="3008655"/>
            <a:ext cx="2223083" cy="42034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8" name="Arrow: Right 7">
            <a:extLst>
              <a:ext uri="{FF2B5EF4-FFF2-40B4-BE49-F238E27FC236}">
                <a16:creationId xmlns:a16="http://schemas.microsoft.com/office/drawing/2014/main" id="{DD67096A-09CA-411E-CE6A-2B5A67820BE9}"/>
              </a:ext>
            </a:extLst>
          </p:cNvPr>
          <p:cNvSpPr/>
          <p:nvPr/>
        </p:nvSpPr>
        <p:spPr>
          <a:xfrm rot="9461962">
            <a:off x="6104487" y="2736163"/>
            <a:ext cx="550650" cy="137872"/>
          </a:xfrm>
          <a:prstGeom prst="rightArrow">
            <a:avLst/>
          </a:prstGeom>
          <a:solidFill>
            <a:srgbClr val="FF0000"/>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TextBox 9">
            <a:extLst>
              <a:ext uri="{FF2B5EF4-FFF2-40B4-BE49-F238E27FC236}">
                <a16:creationId xmlns:a16="http://schemas.microsoft.com/office/drawing/2014/main" id="{F53CC761-A2C5-7B96-3DC5-0C157B98AFE0}"/>
              </a:ext>
            </a:extLst>
          </p:cNvPr>
          <p:cNvSpPr txBox="1"/>
          <p:nvPr/>
        </p:nvSpPr>
        <p:spPr>
          <a:xfrm>
            <a:off x="6630436" y="2387531"/>
            <a:ext cx="3581799" cy="646331"/>
          </a:xfrm>
          <a:prstGeom prst="rect">
            <a:avLst/>
          </a:prstGeom>
          <a:noFill/>
        </p:spPr>
        <p:txBody>
          <a:bodyPr wrap="square" rtlCol="0">
            <a:spAutoFit/>
          </a:bodyPr>
          <a:lstStyle/>
          <a:p>
            <a:r>
              <a:rPr lang="en-US" dirty="0">
                <a:solidFill>
                  <a:srgbClr val="FF0000"/>
                </a:solidFill>
              </a:rPr>
              <a:t>Where server will be hosted; access through web browser</a:t>
            </a:r>
            <a:endParaRPr lang="en-CA" dirty="0">
              <a:solidFill>
                <a:srgbClr val="FF0000"/>
              </a:solidFill>
            </a:endParaRPr>
          </a:p>
        </p:txBody>
      </p:sp>
    </p:spTree>
    <p:extLst>
      <p:ext uri="{BB962C8B-B14F-4D97-AF65-F5344CB8AC3E}">
        <p14:creationId xmlns:p14="http://schemas.microsoft.com/office/powerpoint/2010/main" val="52509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8"/>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P spid="8" grpId="0" animBg="1"/>
      <p:bldP spid="8" grpId="1" animBg="1"/>
      <p:bldP spid="10" grpId="0"/>
      <p:bldP spid="10"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2564C-EDB2-8BB0-F4B3-5F8228040B4B}"/>
              </a:ext>
            </a:extLst>
          </p:cNvPr>
          <p:cNvSpPr>
            <a:spLocks noGrp="1"/>
          </p:cNvSpPr>
          <p:nvPr>
            <p:ph type="title"/>
          </p:nvPr>
        </p:nvSpPr>
        <p:spPr/>
        <p:txBody>
          <a:bodyPr>
            <a:normAutofit/>
          </a:bodyPr>
          <a:lstStyle/>
          <a:p>
            <a:r>
              <a:rPr lang="en-CA" sz="6000" dirty="0"/>
              <a:t>Make + Docker</a:t>
            </a:r>
          </a:p>
        </p:txBody>
      </p:sp>
      <p:sp>
        <p:nvSpPr>
          <p:cNvPr id="3" name="Content Placeholder 2">
            <a:extLst>
              <a:ext uri="{FF2B5EF4-FFF2-40B4-BE49-F238E27FC236}">
                <a16:creationId xmlns:a16="http://schemas.microsoft.com/office/drawing/2014/main" id="{86507198-BCDE-EC14-192C-1485EFFB8D14}"/>
              </a:ext>
            </a:extLst>
          </p:cNvPr>
          <p:cNvSpPr>
            <a:spLocks noGrp="1"/>
          </p:cNvSpPr>
          <p:nvPr>
            <p:ph idx="1"/>
          </p:nvPr>
        </p:nvSpPr>
        <p:spPr/>
        <p:txBody>
          <a:bodyPr/>
          <a:lstStyle/>
          <a:p>
            <a:pPr>
              <a:buFont typeface="Wingdings" panose="05000000000000000000" pitchFamily="2" charset="2"/>
              <a:buChar char="§"/>
            </a:pPr>
            <a:r>
              <a:rPr lang="en-CA" dirty="0"/>
              <a:t> More convenient way to build and run docker images/containers</a:t>
            </a:r>
          </a:p>
        </p:txBody>
      </p:sp>
      <p:sp>
        <p:nvSpPr>
          <p:cNvPr id="5" name="TextBox 4">
            <a:extLst>
              <a:ext uri="{FF2B5EF4-FFF2-40B4-BE49-F238E27FC236}">
                <a16:creationId xmlns:a16="http://schemas.microsoft.com/office/drawing/2014/main" id="{405FDDB1-A64A-FC71-475E-1C4FC4446D19}"/>
              </a:ext>
            </a:extLst>
          </p:cNvPr>
          <p:cNvSpPr txBox="1"/>
          <p:nvPr/>
        </p:nvSpPr>
        <p:spPr>
          <a:xfrm>
            <a:off x="1097280" y="2563036"/>
            <a:ext cx="8508114" cy="2799869"/>
          </a:xfrm>
          <a:prstGeom prst="rect">
            <a:avLst/>
          </a:prstGeom>
          <a:noFill/>
        </p:spPr>
        <p:txBody>
          <a:bodyPr wrap="square">
            <a:spAutoFit/>
          </a:bodyPr>
          <a:lstStyle/>
          <a:p>
            <a:pPr>
              <a:lnSpc>
                <a:spcPts val="1425"/>
              </a:lnSpc>
              <a:buNone/>
            </a:pPr>
            <a:r>
              <a:rPr lang="en-CA" b="0" dirty="0">
                <a:solidFill>
                  <a:srgbClr val="008000"/>
                </a:solidFill>
                <a:effectLst/>
                <a:latin typeface="Consolas" panose="020B0609020204030204" pitchFamily="49" charset="0"/>
              </a:rPr>
              <a:t># Run OLD environment only</a:t>
            </a:r>
          </a:p>
          <a:p>
            <a:pPr>
              <a:lnSpc>
                <a:spcPts val="1425"/>
              </a:lnSpc>
              <a:buNone/>
            </a:pPr>
            <a:endParaRPr lang="en-CA" b="0" dirty="0">
              <a:solidFill>
                <a:srgbClr val="000000"/>
              </a:solidFill>
              <a:effectLst/>
              <a:latin typeface="Consolas" panose="020B0609020204030204" pitchFamily="49" charset="0"/>
            </a:endParaRPr>
          </a:p>
          <a:p>
            <a:pPr>
              <a:lnSpc>
                <a:spcPts val="1425"/>
              </a:lnSpc>
              <a:buNone/>
            </a:pPr>
            <a:r>
              <a:rPr lang="en-CA" b="0" dirty="0">
                <a:solidFill>
                  <a:srgbClr val="000000"/>
                </a:solidFill>
                <a:effectLst/>
                <a:latin typeface="Consolas" panose="020B0609020204030204" pitchFamily="49" charset="0"/>
              </a:rPr>
              <a:t>run-old: build-old </a:t>
            </a:r>
            <a:r>
              <a:rPr lang="en-CA" b="0" dirty="0">
                <a:solidFill>
                  <a:srgbClr val="008000"/>
                </a:solidFill>
                <a:effectLst/>
                <a:latin typeface="Consolas" panose="020B0609020204030204" pitchFamily="49" charset="0"/>
              </a:rPr>
              <a:t>## Run analysis with OLD environment (R 3.6.3)</a:t>
            </a:r>
          </a:p>
          <a:p>
            <a:pPr>
              <a:lnSpc>
                <a:spcPts val="1425"/>
              </a:lnSpc>
              <a:buNone/>
            </a:pPr>
            <a:endParaRPr lang="en-CA" b="0" dirty="0">
              <a:solidFill>
                <a:srgbClr val="000000"/>
              </a:solidFill>
              <a:effectLst/>
              <a:latin typeface="Consolas" panose="020B0609020204030204" pitchFamily="49" charset="0"/>
            </a:endParaRPr>
          </a:p>
          <a:p>
            <a:pPr>
              <a:lnSpc>
                <a:spcPts val="1425"/>
              </a:lnSpc>
              <a:buNone/>
            </a:pPr>
            <a:r>
              <a:rPr lang="en-CA" b="0" dirty="0">
                <a:solidFill>
                  <a:srgbClr val="000000"/>
                </a:solidFill>
                <a:effectLst/>
                <a:latin typeface="Consolas" panose="020B0609020204030204" pitchFamily="49" charset="0"/>
              </a:rPr>
              <a:t>    docker run --rm \</a:t>
            </a:r>
          </a:p>
          <a:p>
            <a:pPr>
              <a:lnSpc>
                <a:spcPts val="1425"/>
              </a:lnSpc>
              <a:buNone/>
            </a:pPr>
            <a:endParaRPr lang="en-CA" b="0" dirty="0">
              <a:solidFill>
                <a:srgbClr val="000000"/>
              </a:solidFill>
              <a:effectLst/>
              <a:latin typeface="Consolas" panose="020B0609020204030204" pitchFamily="49" charset="0"/>
            </a:endParaRPr>
          </a:p>
          <a:p>
            <a:pPr>
              <a:lnSpc>
                <a:spcPts val="1425"/>
              </a:lnSpc>
              <a:buNone/>
            </a:pPr>
            <a:r>
              <a:rPr lang="en-CA" b="0" dirty="0">
                <a:solidFill>
                  <a:srgbClr val="000000"/>
                </a:solidFill>
                <a:effectLst/>
                <a:latin typeface="Consolas" panose="020B0609020204030204" pitchFamily="49" charset="0"/>
              </a:rPr>
              <a:t>        -v </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a:t>
            </a:r>
            <a:r>
              <a:rPr lang="en-CA" b="0" dirty="0" err="1">
                <a:solidFill>
                  <a:srgbClr val="000000"/>
                </a:solidFill>
                <a:effectLst/>
                <a:latin typeface="Consolas" panose="020B0609020204030204" pitchFamily="49" charset="0"/>
              </a:rPr>
              <a:t>pwd</a:t>
            </a:r>
            <a:r>
              <a:rPr lang="en-CA" b="0" dirty="0">
                <a:solidFill>
                  <a:srgbClr val="000000"/>
                </a:solidFill>
                <a:effectLst/>
                <a:latin typeface="Consolas" panose="020B0609020204030204" pitchFamily="49" charset="0"/>
              </a:rPr>
              <a:t>)/output/</a:t>
            </a:r>
            <a:r>
              <a:rPr lang="en-CA" b="0" dirty="0" err="1">
                <a:solidFill>
                  <a:srgbClr val="000000"/>
                </a:solidFill>
                <a:effectLst/>
                <a:latin typeface="Consolas" panose="020B0609020204030204" pitchFamily="49" charset="0"/>
              </a:rPr>
              <a:t>old_docker</a:t>
            </a:r>
            <a:r>
              <a:rPr lang="en-CA" b="0" dirty="0">
                <a:solidFill>
                  <a:srgbClr val="000000"/>
                </a:solidFill>
                <a:effectLst/>
                <a:latin typeface="Consolas" panose="020B0609020204030204" pitchFamily="49" charset="0"/>
              </a:rPr>
              <a:t>:/analysis/output \</a:t>
            </a:r>
          </a:p>
          <a:p>
            <a:pPr>
              <a:lnSpc>
                <a:spcPts val="1425"/>
              </a:lnSpc>
              <a:buNone/>
            </a:pPr>
            <a:endParaRPr lang="en-CA" b="0" dirty="0">
              <a:solidFill>
                <a:srgbClr val="000000"/>
              </a:solidFill>
              <a:effectLst/>
              <a:latin typeface="Consolas" panose="020B0609020204030204" pitchFamily="49" charset="0"/>
            </a:endParaRPr>
          </a:p>
          <a:p>
            <a:pPr>
              <a:lnSpc>
                <a:spcPts val="1425"/>
              </a:lnSpc>
              <a:buNone/>
            </a:pPr>
            <a:r>
              <a:rPr lang="en-CA" b="0" dirty="0">
                <a:solidFill>
                  <a:srgbClr val="000000"/>
                </a:solidFill>
                <a:effectLst/>
                <a:latin typeface="Consolas" panose="020B0609020204030204" pitchFamily="49" charset="0"/>
              </a:rPr>
              <a:t>        -v </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a:t>
            </a:r>
            <a:r>
              <a:rPr lang="en-CA" b="0" dirty="0" err="1">
                <a:solidFill>
                  <a:srgbClr val="000000"/>
                </a:solidFill>
                <a:effectLst/>
                <a:latin typeface="Consolas" panose="020B0609020204030204" pitchFamily="49" charset="0"/>
              </a:rPr>
              <a:t>pwd</a:t>
            </a:r>
            <a:r>
              <a:rPr lang="en-CA" b="0" dirty="0">
                <a:solidFill>
                  <a:srgbClr val="000000"/>
                </a:solidFill>
                <a:effectLst/>
                <a:latin typeface="Consolas" panose="020B0609020204030204" pitchFamily="49" charset="0"/>
              </a:rPr>
              <a:t>)/inputs:/analysis/inputs \</a:t>
            </a:r>
          </a:p>
          <a:p>
            <a:pPr>
              <a:lnSpc>
                <a:spcPts val="1425"/>
              </a:lnSpc>
              <a:buNone/>
            </a:pPr>
            <a:endParaRPr lang="en-CA" b="0" dirty="0">
              <a:solidFill>
                <a:srgbClr val="000000"/>
              </a:solidFill>
              <a:effectLst/>
              <a:latin typeface="Consolas" panose="020B0609020204030204" pitchFamily="49" charset="0"/>
            </a:endParaRPr>
          </a:p>
          <a:p>
            <a:pPr>
              <a:lnSpc>
                <a:spcPts val="1425"/>
              </a:lnSpc>
              <a:buNone/>
            </a:pPr>
            <a:r>
              <a:rPr lang="en-CA" b="0" dirty="0">
                <a:solidFill>
                  <a:srgbClr val="000000"/>
                </a:solidFill>
                <a:effectLst/>
                <a:latin typeface="Consolas" panose="020B0609020204030204" pitchFamily="49" charset="0"/>
              </a:rPr>
              <a:t>        -v </a:t>
            </a:r>
            <a:r>
              <a:rPr lang="en-CA" b="0" dirty="0">
                <a:solidFill>
                  <a:srgbClr val="0000FF"/>
                </a:solidFill>
                <a:effectLst/>
                <a:latin typeface="Consolas" panose="020B0609020204030204" pitchFamily="49" charset="0"/>
              </a:rPr>
              <a:t>$$</a:t>
            </a:r>
            <a:r>
              <a:rPr lang="en-CA" b="0" dirty="0">
                <a:solidFill>
                  <a:srgbClr val="000000"/>
                </a:solidFill>
                <a:effectLst/>
                <a:latin typeface="Consolas" panose="020B0609020204030204" pitchFamily="49" charset="0"/>
              </a:rPr>
              <a:t>(</a:t>
            </a:r>
            <a:r>
              <a:rPr lang="en-CA" b="0" dirty="0" err="1">
                <a:solidFill>
                  <a:srgbClr val="000000"/>
                </a:solidFill>
                <a:effectLst/>
                <a:latin typeface="Consolas" panose="020B0609020204030204" pitchFamily="49" charset="0"/>
              </a:rPr>
              <a:t>pwd</a:t>
            </a:r>
            <a:r>
              <a:rPr lang="en-CA" b="0" dirty="0">
                <a:solidFill>
                  <a:srgbClr val="000000"/>
                </a:solidFill>
                <a:effectLst/>
                <a:latin typeface="Consolas" panose="020B0609020204030204" pitchFamily="49" charset="0"/>
              </a:rPr>
              <a:t>)/bin/R:/analysis/bin/R \</a:t>
            </a:r>
          </a:p>
          <a:p>
            <a:pPr>
              <a:lnSpc>
                <a:spcPts val="1425"/>
              </a:lnSpc>
              <a:buNone/>
            </a:pPr>
            <a:endParaRPr lang="en-CA" b="0" dirty="0">
              <a:solidFill>
                <a:srgbClr val="000000"/>
              </a:solidFill>
              <a:effectLst/>
              <a:latin typeface="Consolas" panose="020B0609020204030204" pitchFamily="49" charset="0"/>
            </a:endParaRPr>
          </a:p>
          <a:p>
            <a:pPr>
              <a:lnSpc>
                <a:spcPts val="1425"/>
              </a:lnSpc>
              <a:buNone/>
            </a:pPr>
            <a:r>
              <a:rPr lang="en-CA" b="0" dirty="0">
                <a:solidFill>
                  <a:srgbClr val="000000"/>
                </a:solidFill>
                <a:effectLst/>
                <a:latin typeface="Consolas" panose="020B0609020204030204" pitchFamily="49" charset="0"/>
              </a:rPr>
              <a:t>        </a:t>
            </a:r>
            <a:r>
              <a:rPr lang="en-CA" b="0" dirty="0" err="1">
                <a:solidFill>
                  <a:srgbClr val="000000"/>
                </a:solidFill>
                <a:effectLst/>
                <a:latin typeface="Consolas" panose="020B0609020204030204" pitchFamily="49" charset="0"/>
              </a:rPr>
              <a:t>deg-analysis:old</a:t>
            </a:r>
            <a:r>
              <a:rPr lang="en-CA" b="0" dirty="0">
                <a:solidFill>
                  <a:srgbClr val="000000"/>
                </a:solidFill>
                <a:effectLst/>
                <a:latin typeface="Consolas" panose="020B0609020204030204" pitchFamily="49" charset="0"/>
              </a:rPr>
              <a:t> \</a:t>
            </a:r>
          </a:p>
          <a:p>
            <a:pPr>
              <a:lnSpc>
                <a:spcPts val="1425"/>
              </a:lnSpc>
              <a:buNone/>
            </a:pPr>
            <a:endParaRPr lang="en-CA" b="0" dirty="0">
              <a:solidFill>
                <a:srgbClr val="000000"/>
              </a:solidFill>
              <a:effectLst/>
              <a:latin typeface="Consolas" panose="020B0609020204030204" pitchFamily="49" charset="0"/>
            </a:endParaRPr>
          </a:p>
          <a:p>
            <a:pPr>
              <a:lnSpc>
                <a:spcPts val="1425"/>
              </a:lnSpc>
              <a:buNone/>
            </a:pPr>
            <a:r>
              <a:rPr lang="en-CA" b="0" dirty="0">
                <a:solidFill>
                  <a:srgbClr val="000000"/>
                </a:solidFill>
                <a:effectLst/>
                <a:latin typeface="Consolas" panose="020B0609020204030204" pitchFamily="49" charset="0"/>
              </a:rPr>
              <a:t>        </a:t>
            </a:r>
            <a:r>
              <a:rPr lang="en-CA" b="0" dirty="0" err="1">
                <a:solidFill>
                  <a:srgbClr val="000000"/>
                </a:solidFill>
                <a:effectLst/>
                <a:latin typeface="Consolas" panose="020B0609020204030204" pitchFamily="49" charset="0"/>
              </a:rPr>
              <a:t>sh</a:t>
            </a:r>
            <a:r>
              <a:rPr lang="en-CA" b="0" dirty="0">
                <a:solidFill>
                  <a:srgbClr val="000000"/>
                </a:solidFill>
                <a:effectLst/>
                <a:latin typeface="Consolas" panose="020B0609020204030204" pitchFamily="49" charset="0"/>
              </a:rPr>
              <a:t> -c "</a:t>
            </a:r>
            <a:r>
              <a:rPr lang="en-CA" b="0" dirty="0" err="1">
                <a:solidFill>
                  <a:srgbClr val="000000"/>
                </a:solidFill>
                <a:effectLst/>
                <a:latin typeface="Consolas" panose="020B0609020204030204" pitchFamily="49" charset="0"/>
              </a:rPr>
              <a:t>Rscript</a:t>
            </a:r>
            <a:r>
              <a:rPr lang="en-CA" b="0" dirty="0">
                <a:solidFill>
                  <a:srgbClr val="000000"/>
                </a:solidFill>
                <a:effectLst/>
                <a:latin typeface="Consolas" panose="020B0609020204030204" pitchFamily="49" charset="0"/>
              </a:rPr>
              <a:t> bin/R/</a:t>
            </a:r>
            <a:r>
              <a:rPr lang="en-CA" b="0" dirty="0" err="1">
                <a:solidFill>
                  <a:srgbClr val="000000"/>
                </a:solidFill>
                <a:effectLst/>
                <a:latin typeface="Consolas" panose="020B0609020204030204" pitchFamily="49" charset="0"/>
              </a:rPr>
              <a:t>deg_analysis.R</a:t>
            </a:r>
            <a:r>
              <a:rPr lang="en-CA"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F2A42F00-EDF0-B6E8-DD64-D92E40C00C59}"/>
              </a:ext>
            </a:extLst>
          </p:cNvPr>
          <p:cNvSpPr txBox="1"/>
          <p:nvPr/>
        </p:nvSpPr>
        <p:spPr>
          <a:xfrm>
            <a:off x="9362533" y="3857414"/>
            <a:ext cx="1793147" cy="286360"/>
          </a:xfrm>
          <a:prstGeom prst="rect">
            <a:avLst/>
          </a:prstGeom>
          <a:noFill/>
        </p:spPr>
        <p:txBody>
          <a:bodyPr wrap="square">
            <a:spAutoFit/>
          </a:bodyPr>
          <a:lstStyle/>
          <a:p>
            <a:pPr>
              <a:lnSpc>
                <a:spcPts val="1425"/>
              </a:lnSpc>
              <a:buNone/>
            </a:pPr>
            <a:r>
              <a:rPr lang="en-CA" b="0" dirty="0">
                <a:solidFill>
                  <a:srgbClr val="000000"/>
                </a:solidFill>
                <a:effectLst/>
                <a:latin typeface="Consolas" panose="020B0609020204030204" pitchFamily="49" charset="0"/>
              </a:rPr>
              <a:t>make run-old</a:t>
            </a:r>
          </a:p>
        </p:txBody>
      </p:sp>
      <p:sp>
        <p:nvSpPr>
          <p:cNvPr id="8" name="Rectangle 7">
            <a:extLst>
              <a:ext uri="{FF2B5EF4-FFF2-40B4-BE49-F238E27FC236}">
                <a16:creationId xmlns:a16="http://schemas.microsoft.com/office/drawing/2014/main" id="{66006464-5B41-434B-DB15-A51AB66707DA}"/>
              </a:ext>
            </a:extLst>
          </p:cNvPr>
          <p:cNvSpPr/>
          <p:nvPr/>
        </p:nvSpPr>
        <p:spPr>
          <a:xfrm>
            <a:off x="9362533" y="3766657"/>
            <a:ext cx="1732187" cy="377117"/>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9" name="Arrow: Right 8">
            <a:extLst>
              <a:ext uri="{FF2B5EF4-FFF2-40B4-BE49-F238E27FC236}">
                <a16:creationId xmlns:a16="http://schemas.microsoft.com/office/drawing/2014/main" id="{C114209E-5FF8-7F01-1B2B-EC46CFE3433B}"/>
              </a:ext>
            </a:extLst>
          </p:cNvPr>
          <p:cNvSpPr/>
          <p:nvPr/>
        </p:nvSpPr>
        <p:spPr>
          <a:xfrm>
            <a:off x="8523215" y="3891380"/>
            <a:ext cx="494950" cy="1431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Tree>
    <p:extLst>
      <p:ext uri="{BB962C8B-B14F-4D97-AF65-F5344CB8AC3E}">
        <p14:creationId xmlns:p14="http://schemas.microsoft.com/office/powerpoint/2010/main" val="1479257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B97AC-83E7-A7EE-D58F-6E509535D54A}"/>
              </a:ext>
            </a:extLst>
          </p:cNvPr>
          <p:cNvSpPr>
            <a:spLocks noGrp="1"/>
          </p:cNvSpPr>
          <p:nvPr>
            <p:ph type="title"/>
          </p:nvPr>
        </p:nvSpPr>
        <p:spPr/>
        <p:txBody>
          <a:bodyPr>
            <a:normAutofit/>
          </a:bodyPr>
          <a:lstStyle/>
          <a:p>
            <a:r>
              <a:rPr lang="en-CA" sz="6000" dirty="0"/>
              <a:t>Recap</a:t>
            </a:r>
          </a:p>
        </p:txBody>
      </p:sp>
      <p:sp>
        <p:nvSpPr>
          <p:cNvPr id="3" name="Content Placeholder 2">
            <a:extLst>
              <a:ext uri="{FF2B5EF4-FFF2-40B4-BE49-F238E27FC236}">
                <a16:creationId xmlns:a16="http://schemas.microsoft.com/office/drawing/2014/main" id="{1FC9ADA7-C2BE-4A29-1C86-09A11CE85ADE}"/>
              </a:ext>
            </a:extLst>
          </p:cNvPr>
          <p:cNvSpPr>
            <a:spLocks noGrp="1"/>
          </p:cNvSpPr>
          <p:nvPr>
            <p:ph idx="1"/>
          </p:nvPr>
        </p:nvSpPr>
        <p:spPr>
          <a:xfrm>
            <a:off x="1097280" y="2038524"/>
            <a:ext cx="10058400" cy="3830569"/>
          </a:xfrm>
        </p:spPr>
        <p:txBody>
          <a:bodyPr/>
          <a:lstStyle/>
          <a:p>
            <a:pPr>
              <a:buFont typeface="Wingdings" panose="05000000000000000000" pitchFamily="2" charset="2"/>
              <a:buChar char="§"/>
            </a:pPr>
            <a:r>
              <a:rPr lang="en-CA" dirty="0"/>
              <a:t> Computational pipelines and analysis scripts are not guaranteed to work</a:t>
            </a:r>
          </a:p>
          <a:p>
            <a:pPr lvl="1">
              <a:buFont typeface="Wingdings" panose="05000000000000000000" pitchFamily="2" charset="2"/>
              <a:buChar char="§"/>
            </a:pPr>
            <a:r>
              <a:rPr lang="en-CA" dirty="0"/>
              <a:t>Issue of reproducibility</a:t>
            </a:r>
          </a:p>
          <a:p>
            <a:pPr>
              <a:buFont typeface="Wingdings" panose="05000000000000000000" pitchFamily="2" charset="2"/>
              <a:buChar char="§"/>
            </a:pPr>
            <a:r>
              <a:rPr lang="en-CA" dirty="0"/>
              <a:t> Docker helps define specific software dependencies to run code in</a:t>
            </a:r>
          </a:p>
          <a:p>
            <a:pPr lvl="1">
              <a:buFont typeface="Wingdings" panose="05000000000000000000" pitchFamily="2" charset="2"/>
              <a:buChar char="§"/>
            </a:pPr>
            <a:r>
              <a:rPr lang="en-CA" dirty="0"/>
              <a:t>If results and expected results don’t align: most likely not a software issue</a:t>
            </a:r>
          </a:p>
          <a:p>
            <a:pPr>
              <a:buFont typeface="Wingdings" panose="05000000000000000000" pitchFamily="2" charset="2"/>
              <a:buChar char="§"/>
            </a:pPr>
            <a:r>
              <a:rPr lang="en-CA" dirty="0"/>
              <a:t> Docker images can be created from user specifications and public ones from </a:t>
            </a:r>
            <a:r>
              <a:rPr lang="en-CA" dirty="0" err="1"/>
              <a:t>DockerHub</a:t>
            </a:r>
            <a:endParaRPr lang="en-CA" dirty="0"/>
          </a:p>
          <a:p>
            <a:pPr>
              <a:buFont typeface="Wingdings" panose="05000000000000000000" pitchFamily="2" charset="2"/>
              <a:buChar char="§"/>
            </a:pPr>
            <a:r>
              <a:rPr lang="en-CA" dirty="0"/>
              <a:t>Can combine concepts from </a:t>
            </a:r>
            <a:r>
              <a:rPr lang="en-CA" dirty="0" err="1"/>
              <a:t>Makefile</a:t>
            </a:r>
            <a:r>
              <a:rPr lang="en-CA" dirty="0"/>
              <a:t> session to streamline development</a:t>
            </a:r>
          </a:p>
          <a:p>
            <a:pPr>
              <a:buFont typeface="Wingdings" panose="05000000000000000000" pitchFamily="2" charset="2"/>
              <a:buChar char="§"/>
            </a:pPr>
            <a:endParaRPr lang="en-CA" dirty="0"/>
          </a:p>
        </p:txBody>
      </p:sp>
    </p:spTree>
    <p:extLst>
      <p:ext uri="{BB962C8B-B14F-4D97-AF65-F5344CB8AC3E}">
        <p14:creationId xmlns:p14="http://schemas.microsoft.com/office/powerpoint/2010/main" val="27429973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58D96-03B1-3892-AFDC-0451E049AE59}"/>
              </a:ext>
            </a:extLst>
          </p:cNvPr>
          <p:cNvSpPr>
            <a:spLocks noGrp="1"/>
          </p:cNvSpPr>
          <p:nvPr>
            <p:ph type="title"/>
          </p:nvPr>
        </p:nvSpPr>
        <p:spPr/>
        <p:txBody>
          <a:bodyPr/>
          <a:lstStyle/>
          <a:p>
            <a:r>
              <a:rPr lang="en-CA" dirty="0"/>
              <a:t>Additional Resources</a:t>
            </a:r>
          </a:p>
        </p:txBody>
      </p:sp>
      <p:sp>
        <p:nvSpPr>
          <p:cNvPr id="3" name="Content Placeholder 2">
            <a:extLst>
              <a:ext uri="{FF2B5EF4-FFF2-40B4-BE49-F238E27FC236}">
                <a16:creationId xmlns:a16="http://schemas.microsoft.com/office/drawing/2014/main" id="{594D8687-0C0C-F468-3C01-6BC7BEED521F}"/>
              </a:ext>
            </a:extLst>
          </p:cNvPr>
          <p:cNvSpPr>
            <a:spLocks noGrp="1"/>
          </p:cNvSpPr>
          <p:nvPr>
            <p:ph idx="1"/>
          </p:nvPr>
        </p:nvSpPr>
        <p:spPr>
          <a:xfrm>
            <a:off x="1097280" y="2181138"/>
            <a:ext cx="10058400" cy="3687956"/>
          </a:xfrm>
        </p:spPr>
        <p:txBody>
          <a:bodyPr/>
          <a:lstStyle/>
          <a:p>
            <a:pPr>
              <a:buFont typeface="Wingdings" panose="05000000000000000000" pitchFamily="2" charset="2"/>
              <a:buChar char="§"/>
            </a:pPr>
            <a:r>
              <a:rPr lang="en-CA" dirty="0"/>
              <a:t>  Documentation from Docker has guided tutorials on all the concepts discussed here, and more: </a:t>
            </a:r>
            <a:r>
              <a:rPr lang="en-CA" dirty="0">
                <a:hlinkClick r:id="rId2"/>
              </a:rPr>
              <a:t>https://docs.docker.com/get-started/introduction/</a:t>
            </a:r>
            <a:endParaRPr lang="en-CA" dirty="0"/>
          </a:p>
          <a:p>
            <a:pPr marL="0" indent="0">
              <a:buNone/>
            </a:pPr>
            <a:endParaRPr lang="en-CA" dirty="0"/>
          </a:p>
          <a:p>
            <a:pPr>
              <a:buFont typeface="Wingdings" panose="05000000000000000000" pitchFamily="2" charset="2"/>
              <a:buChar char="§"/>
            </a:pPr>
            <a:r>
              <a:rPr lang="en-CA" dirty="0"/>
              <a:t> AI agents great at templating / creating </a:t>
            </a:r>
            <a:r>
              <a:rPr lang="en-CA" dirty="0" err="1"/>
              <a:t>Dockerfiles</a:t>
            </a:r>
            <a:r>
              <a:rPr lang="en-CA" dirty="0"/>
              <a:t> + </a:t>
            </a:r>
            <a:r>
              <a:rPr lang="en-CA" dirty="0" err="1"/>
              <a:t>Makefiles</a:t>
            </a:r>
            <a:r>
              <a:rPr lang="en-CA" dirty="0"/>
              <a:t>, use that to your advantage!</a:t>
            </a:r>
          </a:p>
        </p:txBody>
      </p:sp>
    </p:spTree>
    <p:extLst>
      <p:ext uri="{BB962C8B-B14F-4D97-AF65-F5344CB8AC3E}">
        <p14:creationId xmlns:p14="http://schemas.microsoft.com/office/powerpoint/2010/main" val="3291092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A0849-0AA1-7EA4-422B-C550BCA4062E}"/>
              </a:ext>
            </a:extLst>
          </p:cNvPr>
          <p:cNvSpPr>
            <a:spLocks noGrp="1"/>
          </p:cNvSpPr>
          <p:nvPr>
            <p:ph type="ctrTitle"/>
          </p:nvPr>
        </p:nvSpPr>
        <p:spPr/>
        <p:txBody>
          <a:bodyPr/>
          <a:lstStyle/>
          <a:p>
            <a:r>
              <a:rPr lang="en-CA" dirty="0"/>
              <a:t>Thank you!</a:t>
            </a:r>
          </a:p>
        </p:txBody>
      </p:sp>
      <p:sp>
        <p:nvSpPr>
          <p:cNvPr id="3" name="Subtitle 2">
            <a:extLst>
              <a:ext uri="{FF2B5EF4-FFF2-40B4-BE49-F238E27FC236}">
                <a16:creationId xmlns:a16="http://schemas.microsoft.com/office/drawing/2014/main" id="{B269A2C7-9286-3D97-DC38-38A1DB81B8C2}"/>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731129931"/>
      </p:ext>
    </p:extLst>
  </p:cSld>
  <p:clrMapOvr>
    <a:masterClrMapping/>
  </p:clrMapOvr>
</p:sld>
</file>

<file path=ppt/theme/theme1.xml><?xml version="1.0" encoding="utf-8"?>
<a:theme xmlns:a="http://schemas.openxmlformats.org/drawingml/2006/main" name="Retrospec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2030</TotalTime>
  <Words>1471</Words>
  <Application>Microsoft Office PowerPoint</Application>
  <PresentationFormat>Widescreen</PresentationFormat>
  <Paragraphs>169</Paragraphs>
  <Slides>17</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Aptos</vt:lpstr>
      <vt:lpstr>Calibri</vt:lpstr>
      <vt:lpstr>Calibri Light</vt:lpstr>
      <vt:lpstr>Consolas</vt:lpstr>
      <vt:lpstr>Wingdings</vt:lpstr>
      <vt:lpstr>Retrospect</vt:lpstr>
      <vt:lpstr>Reproducible and Portable Data Analysis Environments with Docker</vt:lpstr>
      <vt:lpstr>Resources for today:</vt:lpstr>
      <vt:lpstr>What is Reproducibility? </vt:lpstr>
      <vt:lpstr>Reproducibility Failure Example</vt:lpstr>
      <vt:lpstr>Reproducibility Failure Example</vt:lpstr>
      <vt:lpstr>Docker</vt:lpstr>
      <vt:lpstr>Downloading Docker</vt:lpstr>
      <vt:lpstr>PowerPoint Presentation</vt:lpstr>
      <vt:lpstr>Creating a Dockerfile</vt:lpstr>
      <vt:lpstr>Creating a Docker Image</vt:lpstr>
      <vt:lpstr>Using Public Images</vt:lpstr>
      <vt:lpstr>Running a Docker Container</vt:lpstr>
      <vt:lpstr>Run Rstudio with Docker</vt:lpstr>
      <vt:lpstr>Make + Docker</vt:lpstr>
      <vt:lpstr>Recap</vt:lpstr>
      <vt:lpstr>Additional Resources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sitoro@student.ubc.ca</dc:creator>
  <cp:lastModifiedBy>sitoro@student.ubc.ca</cp:lastModifiedBy>
  <cp:revision>8</cp:revision>
  <dcterms:created xsi:type="dcterms:W3CDTF">2026-02-08T23:11:53Z</dcterms:created>
  <dcterms:modified xsi:type="dcterms:W3CDTF">2026-02-11T17:57:33Z</dcterms:modified>
</cp:coreProperties>
</file>